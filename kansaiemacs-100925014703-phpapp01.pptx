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3004800" cy="9753600"/>
  <p:notesSz cx="130048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1344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75360" y="3023616"/>
            <a:ext cx="1105408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0" i="0">
                <a:solidFill>
                  <a:srgbClr val="535353"/>
                </a:solidFill>
                <a:latin typeface="PMingLiU"/>
                <a:cs typeface="PMingLiU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50720" y="5462016"/>
            <a:ext cx="910336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0" i="0">
                <a:solidFill>
                  <a:srgbClr val="535353"/>
                </a:solidFill>
                <a:latin typeface="Gill Sans"/>
                <a:cs typeface="Gill Sa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0" i="0">
                <a:solidFill>
                  <a:srgbClr val="535353"/>
                </a:solidFill>
                <a:latin typeface="PMingLiU"/>
                <a:cs typeface="PMingLiU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rgbClr val="535353"/>
                </a:solidFill>
                <a:latin typeface="Gill Sans"/>
                <a:cs typeface="Gill Sa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0" i="0">
                <a:solidFill>
                  <a:srgbClr val="535353"/>
                </a:solidFill>
                <a:latin typeface="PMingLiU"/>
                <a:cs typeface="PMingLiU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50240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697472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0" i="0">
                <a:solidFill>
                  <a:srgbClr val="535353"/>
                </a:solidFill>
                <a:latin typeface="PMingLiU"/>
                <a:cs typeface="PMingLiU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60900" y="850900"/>
            <a:ext cx="3683000" cy="1122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0" i="0">
                <a:solidFill>
                  <a:srgbClr val="535353"/>
                </a:solidFill>
                <a:latin typeface="PMingLiU"/>
                <a:cs typeface="PMingLiU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93700" y="4343400"/>
            <a:ext cx="5646420" cy="3449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0" i="0">
                <a:solidFill>
                  <a:srgbClr val="535353"/>
                </a:solidFill>
                <a:latin typeface="Gill Sans"/>
                <a:cs typeface="Gill Sa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21632" y="9070848"/>
            <a:ext cx="416153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50240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63456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70410" y="5727700"/>
            <a:ext cx="8064500" cy="1938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800" b="0" dirty="0">
                <a:solidFill>
                  <a:srgbClr val="535353"/>
                </a:solidFill>
                <a:latin typeface="Gill Sans"/>
                <a:cs typeface="Gill Sans"/>
              </a:rPr>
              <a:t>Emacs</a:t>
            </a:r>
            <a:r>
              <a:rPr sz="3800" b="0" spc="105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3800" spc="-45" dirty="0">
                <a:solidFill>
                  <a:srgbClr val="535353"/>
                </a:solidFill>
                <a:latin typeface="PMingLiU"/>
                <a:cs typeface="PMingLiU"/>
              </a:rPr>
              <a:t>アイコンがコミットされるまで</a:t>
            </a:r>
            <a:endParaRPr sz="3800">
              <a:latin typeface="PMingLiU"/>
              <a:cs typeface="PMingLiU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3800">
              <a:latin typeface="PMingLiU"/>
              <a:cs typeface="PMingLiU"/>
            </a:endParaRPr>
          </a:p>
          <a:p>
            <a:pPr algn="ctr">
              <a:lnSpc>
                <a:spcPct val="100000"/>
              </a:lnSpc>
            </a:pPr>
            <a:r>
              <a:rPr sz="3800" b="0" dirty="0">
                <a:solidFill>
                  <a:srgbClr val="535353"/>
                </a:solidFill>
                <a:latin typeface="Gill Sans"/>
                <a:cs typeface="Gill Sans"/>
              </a:rPr>
              <a:t>2010/9/25(</a:t>
            </a:r>
            <a:r>
              <a:rPr sz="3800" dirty="0">
                <a:solidFill>
                  <a:srgbClr val="535353"/>
                </a:solidFill>
                <a:latin typeface="PMingLiU"/>
                <a:cs typeface="PMingLiU"/>
              </a:rPr>
              <a:t>土</a:t>
            </a:r>
            <a:r>
              <a:rPr sz="3800" b="0" spc="50" dirty="0">
                <a:solidFill>
                  <a:srgbClr val="535353"/>
                </a:solidFill>
                <a:latin typeface="Gill Sans"/>
                <a:cs typeface="Gill Sans"/>
              </a:rPr>
              <a:t>) </a:t>
            </a:r>
            <a:r>
              <a:rPr sz="3800" spc="-10" dirty="0">
                <a:solidFill>
                  <a:srgbClr val="535353"/>
                </a:solidFill>
                <a:latin typeface="PMingLiU"/>
                <a:cs typeface="PMingLiU"/>
              </a:rPr>
              <a:t>大河内健太郎</a:t>
            </a:r>
            <a:endParaRPr sz="3800">
              <a:latin typeface="PMingLiU"/>
              <a:cs typeface="PMingLiU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800" y="2044700"/>
            <a:ext cx="3251200" cy="3251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自己紹介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3700" y="2351207"/>
            <a:ext cx="155575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b="0" spc="-50" dirty="0">
                <a:solidFill>
                  <a:srgbClr val="535353"/>
                </a:solidFill>
                <a:latin typeface="Gill Sans"/>
                <a:cs typeface="Gill Sans"/>
              </a:rPr>
              <a:t>•</a:t>
            </a:r>
            <a:endParaRPr sz="2050">
              <a:latin typeface="Gill Sans"/>
              <a:cs typeface="Gill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3700" y="3113207"/>
            <a:ext cx="155575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b="0" spc="-50" dirty="0">
                <a:solidFill>
                  <a:srgbClr val="535353"/>
                </a:solidFill>
                <a:latin typeface="Gill Sans"/>
                <a:cs typeface="Gill Sans"/>
              </a:rPr>
              <a:t>•</a:t>
            </a:r>
            <a:endParaRPr sz="2050">
              <a:latin typeface="Gill Sans"/>
              <a:cs typeface="Gill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3700" y="3875206"/>
            <a:ext cx="155575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b="0" spc="-50" dirty="0">
                <a:solidFill>
                  <a:srgbClr val="535353"/>
                </a:solidFill>
                <a:latin typeface="Gill Sans"/>
                <a:cs typeface="Gill Sans"/>
              </a:rPr>
              <a:t>•</a:t>
            </a:r>
            <a:endParaRPr sz="2050">
              <a:latin typeface="Gill Sans"/>
              <a:cs typeface="Gill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3700" y="4637206"/>
            <a:ext cx="155575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b="0" spc="-50" dirty="0">
                <a:solidFill>
                  <a:srgbClr val="535353"/>
                </a:solidFill>
                <a:latin typeface="Gill Sans"/>
                <a:cs typeface="Gill Sans"/>
              </a:rPr>
              <a:t>•</a:t>
            </a:r>
            <a:endParaRPr sz="2050">
              <a:latin typeface="Gill Sans"/>
              <a:cs typeface="Gill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3700" y="5386506"/>
            <a:ext cx="155575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b="0" spc="-50" dirty="0">
                <a:solidFill>
                  <a:srgbClr val="535353"/>
                </a:solidFill>
                <a:latin typeface="Gill Sans"/>
                <a:cs typeface="Gill Sans"/>
              </a:rPr>
              <a:t>•</a:t>
            </a:r>
            <a:endParaRPr sz="2050">
              <a:latin typeface="Gill Sans"/>
              <a:cs typeface="Gill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3700" y="6148506"/>
            <a:ext cx="155575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b="0" spc="-50" dirty="0">
                <a:solidFill>
                  <a:srgbClr val="535353"/>
                </a:solidFill>
                <a:latin typeface="Gill Sans"/>
                <a:cs typeface="Gill Sans"/>
              </a:rPr>
              <a:t>•</a:t>
            </a:r>
            <a:endParaRPr sz="2050">
              <a:latin typeface="Gill Sans"/>
              <a:cs typeface="Gill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3700" y="6910506"/>
            <a:ext cx="155575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b="0" spc="-50" dirty="0">
                <a:solidFill>
                  <a:srgbClr val="535353"/>
                </a:solidFill>
                <a:latin typeface="Gill Sans"/>
                <a:cs typeface="Gill Sans"/>
              </a:rPr>
              <a:t>•</a:t>
            </a:r>
            <a:endParaRPr sz="2050">
              <a:latin typeface="Gill Sans"/>
              <a:cs typeface="Gill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3700" y="7672506"/>
            <a:ext cx="155575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b="0" spc="-50" dirty="0">
                <a:solidFill>
                  <a:srgbClr val="535353"/>
                </a:solidFill>
                <a:latin typeface="Gill Sans"/>
                <a:cs typeface="Gill Sans"/>
              </a:rPr>
              <a:t>•</a:t>
            </a:r>
            <a:endParaRPr sz="2050">
              <a:latin typeface="Gill Sans"/>
              <a:cs typeface="Gill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8500" y="2312416"/>
            <a:ext cx="11137900" cy="500008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00" spc="-25" dirty="0">
                <a:solidFill>
                  <a:srgbClr val="535353"/>
                </a:solidFill>
                <a:latin typeface="PMingLiU"/>
                <a:cs typeface="PMingLiU"/>
              </a:rPr>
              <a:t>名前</a:t>
            </a:r>
            <a:r>
              <a:rPr sz="2500" b="0" spc="-70" dirty="0">
                <a:solidFill>
                  <a:srgbClr val="535353"/>
                </a:solidFill>
                <a:latin typeface="Gill Sans"/>
                <a:cs typeface="Gill Sans"/>
              </a:rPr>
              <a:t>: </a:t>
            </a:r>
            <a:r>
              <a:rPr sz="2500" spc="-25" dirty="0">
                <a:solidFill>
                  <a:srgbClr val="535353"/>
                </a:solidFill>
                <a:latin typeface="PMingLiU"/>
                <a:cs typeface="PMingLiU"/>
              </a:rPr>
              <a:t>大河内健太郎</a:t>
            </a:r>
            <a:r>
              <a:rPr sz="2500" b="0" dirty="0">
                <a:solidFill>
                  <a:srgbClr val="535353"/>
                </a:solidFill>
                <a:latin typeface="Gill Sans"/>
                <a:cs typeface="Gill Sans"/>
              </a:rPr>
              <a:t>(id:nanasess)</a:t>
            </a:r>
            <a:r>
              <a:rPr sz="2500" b="0" spc="65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2500" spc="-25" dirty="0">
                <a:solidFill>
                  <a:srgbClr val="535353"/>
                </a:solidFill>
                <a:latin typeface="PMingLiU"/>
                <a:cs typeface="PMingLiU"/>
              </a:rPr>
              <a:t>年齢</a:t>
            </a:r>
            <a:r>
              <a:rPr sz="2500" b="0" spc="-65" dirty="0">
                <a:solidFill>
                  <a:srgbClr val="535353"/>
                </a:solidFill>
                <a:latin typeface="Gill Sans"/>
                <a:cs typeface="Gill Sans"/>
              </a:rPr>
              <a:t>: </a:t>
            </a:r>
            <a:r>
              <a:rPr sz="2500" b="0" spc="-15" dirty="0">
                <a:solidFill>
                  <a:srgbClr val="535353"/>
                </a:solidFill>
                <a:latin typeface="Gill Sans"/>
                <a:cs typeface="Gill Sans"/>
              </a:rPr>
              <a:t>33</a:t>
            </a:r>
            <a:r>
              <a:rPr sz="2500" spc="-50" dirty="0">
                <a:solidFill>
                  <a:srgbClr val="535353"/>
                </a:solidFill>
                <a:latin typeface="PMingLiU"/>
                <a:cs typeface="PMingLiU"/>
              </a:rPr>
              <a:t>才</a:t>
            </a:r>
            <a:endParaRPr sz="2500" dirty="0">
              <a:latin typeface="PMingLiU"/>
              <a:cs typeface="PMingLiU"/>
            </a:endParaRPr>
          </a:p>
          <a:p>
            <a:pPr marL="12700">
              <a:lnSpc>
                <a:spcPct val="100000"/>
              </a:lnSpc>
              <a:spcBef>
                <a:spcPts val="3000"/>
              </a:spcBef>
            </a:pPr>
            <a:r>
              <a:rPr sz="2500" spc="-25" dirty="0">
                <a:solidFill>
                  <a:srgbClr val="535353"/>
                </a:solidFill>
                <a:latin typeface="PMingLiU"/>
                <a:cs typeface="PMingLiU"/>
              </a:rPr>
              <a:t>出身</a:t>
            </a:r>
            <a:r>
              <a:rPr sz="2500" b="0" spc="-70" dirty="0">
                <a:solidFill>
                  <a:srgbClr val="535353"/>
                </a:solidFill>
                <a:latin typeface="Gill Sans"/>
                <a:cs typeface="Gill Sans"/>
              </a:rPr>
              <a:t>: </a:t>
            </a:r>
            <a:r>
              <a:rPr sz="2500" spc="-35" dirty="0">
                <a:solidFill>
                  <a:srgbClr val="535353"/>
                </a:solidFill>
                <a:latin typeface="PMingLiU"/>
                <a:cs typeface="PMingLiU"/>
              </a:rPr>
              <a:t>愛知県</a:t>
            </a:r>
            <a:endParaRPr sz="2500" dirty="0">
              <a:latin typeface="PMingLiU"/>
              <a:cs typeface="PMingLiU"/>
            </a:endParaRPr>
          </a:p>
          <a:p>
            <a:pPr marL="12700">
              <a:lnSpc>
                <a:spcPct val="100000"/>
              </a:lnSpc>
              <a:spcBef>
                <a:spcPts val="3000"/>
              </a:spcBef>
            </a:pPr>
            <a:r>
              <a:rPr sz="2500" spc="-25" dirty="0">
                <a:solidFill>
                  <a:srgbClr val="535353"/>
                </a:solidFill>
                <a:latin typeface="PMingLiU"/>
                <a:cs typeface="PMingLiU"/>
              </a:rPr>
              <a:t>前職</a:t>
            </a:r>
            <a:r>
              <a:rPr sz="2500" b="0" spc="-70" dirty="0">
                <a:solidFill>
                  <a:srgbClr val="535353"/>
                </a:solidFill>
                <a:latin typeface="Gill Sans"/>
                <a:cs typeface="Gill Sans"/>
              </a:rPr>
              <a:t>: </a:t>
            </a:r>
            <a:r>
              <a:rPr sz="2500" spc="-30" dirty="0">
                <a:solidFill>
                  <a:srgbClr val="535353"/>
                </a:solidFill>
                <a:latin typeface="PMingLiU"/>
                <a:cs typeface="PMingLiU"/>
              </a:rPr>
              <a:t>寿司屋の板前</a:t>
            </a:r>
            <a:endParaRPr sz="2500" dirty="0">
              <a:latin typeface="PMingLiU"/>
              <a:cs typeface="PMingLiU"/>
            </a:endParaRPr>
          </a:p>
          <a:p>
            <a:pPr marL="12700">
              <a:lnSpc>
                <a:spcPct val="100000"/>
              </a:lnSpc>
              <a:spcBef>
                <a:spcPts val="3000"/>
              </a:spcBef>
            </a:pPr>
            <a:r>
              <a:rPr sz="2500" spc="-25" dirty="0">
                <a:solidFill>
                  <a:srgbClr val="535353"/>
                </a:solidFill>
                <a:latin typeface="PMingLiU"/>
                <a:cs typeface="PMingLiU"/>
              </a:rPr>
              <a:t>資格</a:t>
            </a:r>
            <a:r>
              <a:rPr sz="2500" b="0" spc="-70" dirty="0">
                <a:solidFill>
                  <a:srgbClr val="535353"/>
                </a:solidFill>
                <a:latin typeface="Gill Sans"/>
                <a:cs typeface="Gill Sans"/>
              </a:rPr>
              <a:t>: </a:t>
            </a:r>
            <a:r>
              <a:rPr sz="2500" spc="-45" dirty="0">
                <a:solidFill>
                  <a:srgbClr val="535353"/>
                </a:solidFill>
                <a:latin typeface="PMingLiU"/>
                <a:cs typeface="PMingLiU"/>
              </a:rPr>
              <a:t>調理師・ふぐ処理師</a:t>
            </a:r>
            <a:endParaRPr sz="2500" dirty="0">
              <a:latin typeface="PMingLiU"/>
              <a:cs typeface="PMingLiU"/>
            </a:endParaRPr>
          </a:p>
          <a:p>
            <a:pPr marL="12700" marR="278765" algn="just">
              <a:lnSpc>
                <a:spcPts val="6000"/>
              </a:lnSpc>
              <a:spcBef>
                <a:spcPts val="600"/>
              </a:spcBef>
            </a:pPr>
            <a:r>
              <a:rPr sz="2500" b="0" dirty="0">
                <a:solidFill>
                  <a:srgbClr val="535353"/>
                </a:solidFill>
                <a:latin typeface="Gill Sans"/>
                <a:cs typeface="Gill Sans"/>
              </a:rPr>
              <a:t>FreeBSD / Mac OS X / Solaris </a:t>
            </a:r>
            <a:r>
              <a:rPr sz="2500" spc="-50" dirty="0">
                <a:solidFill>
                  <a:srgbClr val="535353"/>
                </a:solidFill>
                <a:latin typeface="PMingLiU"/>
                <a:cs typeface="PMingLiU"/>
              </a:rPr>
              <a:t>使ってます</a:t>
            </a:r>
            <a:r>
              <a:rPr sz="2500" spc="-15" dirty="0">
                <a:solidFill>
                  <a:srgbClr val="535353"/>
                </a:solidFill>
                <a:latin typeface="PMingLiU"/>
                <a:cs typeface="PMingLiU"/>
              </a:rPr>
              <a:t>本業は </a:t>
            </a:r>
            <a:r>
              <a:rPr sz="2500" b="0" dirty="0">
                <a:solidFill>
                  <a:srgbClr val="535353"/>
                </a:solidFill>
                <a:latin typeface="Gill Sans"/>
                <a:cs typeface="Gill Sans"/>
              </a:rPr>
              <a:t>Java</a:t>
            </a:r>
            <a:r>
              <a:rPr sz="2500" b="0" spc="35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2500" spc="-65" dirty="0">
                <a:solidFill>
                  <a:srgbClr val="535353"/>
                </a:solidFill>
                <a:latin typeface="PMingLiU"/>
                <a:cs typeface="PMingLiU"/>
              </a:rPr>
              <a:t>のフレームワーク開発とか</a:t>
            </a:r>
            <a:r>
              <a:rPr sz="2500" spc="-50" dirty="0">
                <a:solidFill>
                  <a:srgbClr val="535353"/>
                </a:solidFill>
                <a:latin typeface="PMingLiU"/>
                <a:cs typeface="PMingLiU"/>
              </a:rPr>
              <a:t> </a:t>
            </a:r>
            <a:r>
              <a:rPr sz="2500" b="0" spc="-25" dirty="0">
                <a:solidFill>
                  <a:srgbClr val="535353"/>
                </a:solidFill>
                <a:latin typeface="Gill Sans"/>
                <a:cs typeface="Gill Sans"/>
              </a:rPr>
              <a:t>EC-</a:t>
            </a:r>
            <a:r>
              <a:rPr sz="2500" b="0" dirty="0">
                <a:solidFill>
                  <a:srgbClr val="535353"/>
                </a:solidFill>
                <a:latin typeface="Gill Sans"/>
                <a:cs typeface="Gill Sans"/>
              </a:rPr>
              <a:t>CUBE</a:t>
            </a:r>
            <a:r>
              <a:rPr sz="2500" b="0" spc="15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2500" spc="-30" dirty="0">
                <a:solidFill>
                  <a:srgbClr val="535353"/>
                </a:solidFill>
                <a:latin typeface="PMingLiU"/>
                <a:cs typeface="PMingLiU"/>
              </a:rPr>
              <a:t>コミッター</a:t>
            </a:r>
            <a:endParaRPr sz="2500" dirty="0">
              <a:latin typeface="PMingLiU"/>
              <a:cs typeface="PMingLiU"/>
            </a:endParaRPr>
          </a:p>
          <a:p>
            <a:pPr marL="12700">
              <a:lnSpc>
                <a:spcPct val="100000"/>
              </a:lnSpc>
              <a:spcBef>
                <a:spcPts val="2300"/>
              </a:spcBef>
            </a:pPr>
            <a:r>
              <a:rPr sz="2500" b="0" dirty="0">
                <a:solidFill>
                  <a:srgbClr val="535353"/>
                </a:solidFill>
                <a:latin typeface="Gill Sans"/>
                <a:cs typeface="Gill Sans"/>
              </a:rPr>
              <a:t>Emacs23</a:t>
            </a:r>
            <a:r>
              <a:rPr sz="2500" b="0" spc="65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2500" spc="-60" dirty="0">
                <a:solidFill>
                  <a:srgbClr val="535353"/>
                </a:solidFill>
                <a:latin typeface="PMingLiU"/>
                <a:cs typeface="PMingLiU"/>
              </a:rPr>
              <a:t>のアイコン作りました</a:t>
            </a:r>
            <a:endParaRPr sz="2500" dirty="0">
              <a:latin typeface="PMingLiU"/>
              <a:cs typeface="PMingLiU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きっかけ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3700" y="3469894"/>
            <a:ext cx="12175490" cy="523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125"/>
              </a:spcBef>
              <a:buSzPct val="81967"/>
              <a:buChar char="•"/>
              <a:tabLst>
                <a:tab pos="316865" algn="l"/>
              </a:tabLst>
            </a:pPr>
            <a:r>
              <a:rPr sz="3050" b="0" dirty="0">
                <a:solidFill>
                  <a:srgbClr val="535353"/>
                </a:solidFill>
                <a:latin typeface="Gill Sans"/>
                <a:cs typeface="Gill Sans"/>
              </a:rPr>
              <a:t>2006</a:t>
            </a:r>
            <a:r>
              <a:rPr sz="3050" dirty="0">
                <a:solidFill>
                  <a:srgbClr val="535353"/>
                </a:solidFill>
                <a:latin typeface="PMingLiU"/>
                <a:cs typeface="PMingLiU"/>
              </a:rPr>
              <a:t>年</a:t>
            </a:r>
            <a:r>
              <a:rPr sz="3050" b="0" dirty="0">
                <a:solidFill>
                  <a:srgbClr val="535353"/>
                </a:solidFill>
                <a:latin typeface="Gill Sans"/>
                <a:cs typeface="Gill Sans"/>
              </a:rPr>
              <a:t>2</a:t>
            </a:r>
            <a:r>
              <a:rPr sz="3050" spc="-50" dirty="0">
                <a:solidFill>
                  <a:srgbClr val="535353"/>
                </a:solidFill>
                <a:latin typeface="PMingLiU"/>
                <a:cs typeface="PMingLiU"/>
              </a:rPr>
              <a:t>月</a:t>
            </a:r>
            <a:endParaRPr sz="3050">
              <a:latin typeface="PMingLiU"/>
              <a:cs typeface="PMingLiU"/>
            </a:endParaRPr>
          </a:p>
          <a:p>
            <a:pPr>
              <a:lnSpc>
                <a:spcPct val="100000"/>
              </a:lnSpc>
              <a:spcBef>
                <a:spcPts val="375"/>
              </a:spcBef>
              <a:buClr>
                <a:srgbClr val="535353"/>
              </a:buClr>
              <a:buFont typeface="Gill Sans"/>
              <a:buChar char="•"/>
            </a:pPr>
            <a:endParaRPr sz="3050">
              <a:latin typeface="PMingLiU"/>
              <a:cs typeface="PMingLiU"/>
            </a:endParaRPr>
          </a:p>
          <a:p>
            <a:pPr marL="316865" indent="-304165">
              <a:lnSpc>
                <a:spcPct val="100000"/>
              </a:lnSpc>
              <a:buSzPct val="81967"/>
              <a:buFont typeface="Gill Sans"/>
              <a:buChar char="•"/>
              <a:tabLst>
                <a:tab pos="316865" algn="l"/>
              </a:tabLst>
            </a:pPr>
            <a:r>
              <a:rPr sz="3050" dirty="0">
                <a:solidFill>
                  <a:srgbClr val="535353"/>
                </a:solidFill>
                <a:latin typeface="PMingLiU"/>
                <a:cs typeface="PMingLiU"/>
              </a:rPr>
              <a:t>本業の現実逃避がしたかった</a:t>
            </a:r>
            <a:r>
              <a:rPr sz="3050" b="0" dirty="0">
                <a:solidFill>
                  <a:srgbClr val="535353"/>
                </a:solidFill>
                <a:latin typeface="Gill Sans"/>
                <a:cs typeface="Gill Sans"/>
              </a:rPr>
              <a:t>(</a:t>
            </a:r>
            <a:r>
              <a:rPr sz="3050" dirty="0">
                <a:solidFill>
                  <a:srgbClr val="535353"/>
                </a:solidFill>
                <a:latin typeface="PMingLiU"/>
                <a:cs typeface="PMingLiU"/>
              </a:rPr>
              <a:t>汗</a:t>
            </a:r>
            <a:r>
              <a:rPr sz="3050" b="0" spc="-50" dirty="0">
                <a:solidFill>
                  <a:srgbClr val="535353"/>
                </a:solidFill>
                <a:latin typeface="Gill Sans"/>
                <a:cs typeface="Gill Sans"/>
              </a:rPr>
              <a:t>)</a:t>
            </a:r>
            <a:endParaRPr sz="3050">
              <a:latin typeface="Gill Sans"/>
              <a:cs typeface="Gill Sans"/>
            </a:endParaRPr>
          </a:p>
          <a:p>
            <a:pPr>
              <a:lnSpc>
                <a:spcPct val="100000"/>
              </a:lnSpc>
              <a:spcBef>
                <a:spcPts val="875"/>
              </a:spcBef>
              <a:buClr>
                <a:srgbClr val="535353"/>
              </a:buClr>
              <a:buFont typeface="Gill Sans"/>
              <a:buChar char="•"/>
            </a:pPr>
            <a:endParaRPr sz="3050">
              <a:latin typeface="Gill Sans"/>
              <a:cs typeface="Gill Sans"/>
            </a:endParaRPr>
          </a:p>
          <a:p>
            <a:pPr marL="316865" indent="-304165">
              <a:lnSpc>
                <a:spcPct val="100000"/>
              </a:lnSpc>
              <a:buSzPct val="81967"/>
              <a:buChar char="•"/>
              <a:tabLst>
                <a:tab pos="316865" algn="l"/>
              </a:tabLst>
            </a:pPr>
            <a:r>
              <a:rPr sz="3050" b="0" dirty="0">
                <a:solidFill>
                  <a:srgbClr val="535353"/>
                </a:solidFill>
                <a:latin typeface="Gill Sans"/>
                <a:cs typeface="Gill Sans"/>
              </a:rPr>
              <a:t>Carbon</a:t>
            </a:r>
            <a:r>
              <a:rPr sz="3050" b="0" spc="105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3050" b="0" dirty="0">
                <a:solidFill>
                  <a:srgbClr val="535353"/>
                </a:solidFill>
                <a:latin typeface="Gill Sans"/>
                <a:cs typeface="Gill Sans"/>
              </a:rPr>
              <a:t>Emacs</a:t>
            </a:r>
            <a:r>
              <a:rPr sz="3050" b="0" spc="105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3050" b="0" dirty="0">
                <a:solidFill>
                  <a:srgbClr val="535353"/>
                </a:solidFill>
                <a:latin typeface="Gill Sans"/>
                <a:cs typeface="Gill Sans"/>
              </a:rPr>
              <a:t>Package</a:t>
            </a:r>
            <a:r>
              <a:rPr sz="3050" b="0" spc="105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3050" spc="-180" dirty="0">
                <a:solidFill>
                  <a:srgbClr val="535353"/>
                </a:solidFill>
                <a:latin typeface="PMingLiU"/>
                <a:cs typeface="PMingLiU"/>
              </a:rPr>
              <a:t>の </a:t>
            </a:r>
            <a:r>
              <a:rPr sz="3050" b="0" dirty="0">
                <a:solidFill>
                  <a:srgbClr val="535353"/>
                </a:solidFill>
                <a:latin typeface="Gill Sans"/>
                <a:cs typeface="Gill Sans"/>
              </a:rPr>
              <a:t>TODO</a:t>
            </a:r>
            <a:r>
              <a:rPr sz="3050" b="0" spc="100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3050" spc="35" dirty="0">
                <a:solidFill>
                  <a:srgbClr val="535353"/>
                </a:solidFill>
                <a:latin typeface="PMingLiU"/>
                <a:cs typeface="PMingLiU"/>
              </a:rPr>
              <a:t>に </a:t>
            </a:r>
            <a:r>
              <a:rPr sz="3050" b="0" dirty="0">
                <a:solidFill>
                  <a:srgbClr val="535353"/>
                </a:solidFill>
                <a:latin typeface="Gill Sans"/>
                <a:cs typeface="Gill Sans"/>
              </a:rPr>
              <a:t>Mac</a:t>
            </a:r>
            <a:r>
              <a:rPr sz="3050" b="0" spc="105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3050" b="0" spc="55" dirty="0">
                <a:solidFill>
                  <a:srgbClr val="535353"/>
                </a:solidFill>
                <a:latin typeface="Gill Sans"/>
                <a:cs typeface="Gill Sans"/>
              </a:rPr>
              <a:t>OS</a:t>
            </a:r>
            <a:r>
              <a:rPr sz="3050" b="0" spc="100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3050" b="0" dirty="0">
                <a:solidFill>
                  <a:srgbClr val="535353"/>
                </a:solidFill>
                <a:latin typeface="Gill Sans"/>
                <a:cs typeface="Gill Sans"/>
              </a:rPr>
              <a:t>X</a:t>
            </a:r>
            <a:r>
              <a:rPr sz="3050" b="0" spc="105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3050" spc="-45" dirty="0">
                <a:solidFill>
                  <a:srgbClr val="535353"/>
                </a:solidFill>
                <a:latin typeface="PMingLiU"/>
                <a:cs typeface="PMingLiU"/>
              </a:rPr>
              <a:t>版のアイコン作成を発見</a:t>
            </a:r>
            <a:endParaRPr sz="3050">
              <a:latin typeface="PMingLiU"/>
              <a:cs typeface="PMingLiU"/>
            </a:endParaRPr>
          </a:p>
          <a:p>
            <a:pPr marL="698500" marR="347980" lvl="1" indent="-304800">
              <a:lnSpc>
                <a:spcPct val="136600"/>
              </a:lnSpc>
              <a:spcBef>
                <a:spcPts val="3100"/>
              </a:spcBef>
              <a:buSzPct val="81967"/>
              <a:buFont typeface="Gill Sans"/>
              <a:buChar char="•"/>
              <a:tabLst>
                <a:tab pos="698500" algn="l"/>
              </a:tabLst>
            </a:pPr>
            <a:r>
              <a:rPr sz="3050" spc="-30" dirty="0">
                <a:solidFill>
                  <a:srgbClr val="535353"/>
                </a:solidFill>
                <a:latin typeface="PMingLiU"/>
                <a:cs typeface="PMingLiU"/>
              </a:rPr>
              <a:t>ヌーのアイコンは </a:t>
            </a:r>
            <a:r>
              <a:rPr sz="3050" b="0" dirty="0">
                <a:solidFill>
                  <a:srgbClr val="535353"/>
                </a:solidFill>
                <a:latin typeface="Gill Sans"/>
                <a:cs typeface="Gill Sans"/>
              </a:rPr>
              <a:t>Mac</a:t>
            </a:r>
            <a:r>
              <a:rPr sz="3050" b="0" spc="100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3050" b="0" spc="55" dirty="0">
                <a:solidFill>
                  <a:srgbClr val="535353"/>
                </a:solidFill>
                <a:latin typeface="Gill Sans"/>
                <a:cs typeface="Gill Sans"/>
              </a:rPr>
              <a:t>OS</a:t>
            </a:r>
            <a:r>
              <a:rPr sz="3050" b="0" spc="105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3050" b="0" dirty="0">
                <a:solidFill>
                  <a:srgbClr val="535353"/>
                </a:solidFill>
                <a:latin typeface="Gill Sans"/>
                <a:cs typeface="Gill Sans"/>
              </a:rPr>
              <a:t>X</a:t>
            </a:r>
            <a:r>
              <a:rPr sz="3050" b="0" spc="100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3050" dirty="0">
                <a:solidFill>
                  <a:srgbClr val="535353"/>
                </a:solidFill>
                <a:latin typeface="PMingLiU"/>
                <a:cs typeface="PMingLiU"/>
              </a:rPr>
              <a:t>らしくないから</a:t>
            </a:r>
            <a:r>
              <a:rPr sz="3050" b="0" spc="-75" dirty="0">
                <a:solidFill>
                  <a:srgbClr val="535353"/>
                </a:solidFill>
                <a:latin typeface="Gill Sans"/>
                <a:cs typeface="Gill Sans"/>
              </a:rPr>
              <a:t>, </a:t>
            </a:r>
            <a:r>
              <a:rPr sz="3050" b="0" dirty="0">
                <a:solidFill>
                  <a:srgbClr val="535353"/>
                </a:solidFill>
                <a:latin typeface="Gill Sans"/>
                <a:cs typeface="Gill Sans"/>
              </a:rPr>
              <a:t>Mac</a:t>
            </a:r>
            <a:r>
              <a:rPr sz="3050" b="0" spc="105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3050" b="0" spc="55" dirty="0">
                <a:solidFill>
                  <a:srgbClr val="535353"/>
                </a:solidFill>
                <a:latin typeface="Gill Sans"/>
                <a:cs typeface="Gill Sans"/>
              </a:rPr>
              <a:t>OS</a:t>
            </a:r>
            <a:r>
              <a:rPr sz="3050" b="0" spc="100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3050" b="0" dirty="0">
                <a:solidFill>
                  <a:srgbClr val="535353"/>
                </a:solidFill>
                <a:latin typeface="Gill Sans"/>
                <a:cs typeface="Gill Sans"/>
              </a:rPr>
              <a:t>X</a:t>
            </a:r>
            <a:r>
              <a:rPr sz="3050" b="0" spc="100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3050" spc="-15" dirty="0">
                <a:solidFill>
                  <a:srgbClr val="535353"/>
                </a:solidFill>
                <a:latin typeface="PMingLiU"/>
                <a:cs typeface="PMingLiU"/>
              </a:rPr>
              <a:t>らしいの</a:t>
            </a:r>
            <a:r>
              <a:rPr sz="3050" spc="-10" dirty="0">
                <a:solidFill>
                  <a:srgbClr val="535353"/>
                </a:solidFill>
                <a:latin typeface="PMingLiU"/>
                <a:cs typeface="PMingLiU"/>
              </a:rPr>
              <a:t>を作りたい</a:t>
            </a:r>
            <a:endParaRPr sz="3050">
              <a:latin typeface="PMingLiU"/>
              <a:cs typeface="PMingLiU"/>
            </a:endParaRPr>
          </a:p>
          <a:p>
            <a:pPr lvl="1">
              <a:lnSpc>
                <a:spcPct val="100000"/>
              </a:lnSpc>
              <a:spcBef>
                <a:spcPts val="475"/>
              </a:spcBef>
              <a:buClr>
                <a:srgbClr val="535353"/>
              </a:buClr>
              <a:buFont typeface="Gill Sans"/>
              <a:buChar char="•"/>
            </a:pPr>
            <a:endParaRPr sz="3050">
              <a:latin typeface="PMingLiU"/>
              <a:cs typeface="PMingLiU"/>
            </a:endParaRPr>
          </a:p>
          <a:p>
            <a:pPr marL="316865" indent="-304165">
              <a:lnSpc>
                <a:spcPct val="100000"/>
              </a:lnSpc>
              <a:buSzPct val="81967"/>
              <a:buFont typeface="Gill Sans"/>
              <a:buChar char="•"/>
              <a:tabLst>
                <a:tab pos="316865" algn="l"/>
              </a:tabLst>
            </a:pPr>
            <a:r>
              <a:rPr sz="3050" dirty="0">
                <a:solidFill>
                  <a:srgbClr val="535353"/>
                </a:solidFill>
                <a:latin typeface="PMingLiU"/>
                <a:cs typeface="PMingLiU"/>
              </a:rPr>
              <a:t>メンテナの銭谷さんとやりとりし</a:t>
            </a:r>
            <a:r>
              <a:rPr sz="3050" b="0" spc="-75" dirty="0">
                <a:solidFill>
                  <a:srgbClr val="535353"/>
                </a:solidFill>
                <a:latin typeface="Gill Sans"/>
                <a:cs typeface="Gill Sans"/>
              </a:rPr>
              <a:t>, </a:t>
            </a:r>
            <a:r>
              <a:rPr sz="3050" spc="-50" dirty="0">
                <a:solidFill>
                  <a:srgbClr val="535353"/>
                </a:solidFill>
                <a:latin typeface="PMingLiU"/>
                <a:cs typeface="PMingLiU"/>
              </a:rPr>
              <a:t>数パターン作成</a:t>
            </a:r>
            <a:endParaRPr sz="3050">
              <a:latin typeface="PMingLiU"/>
              <a:cs typeface="PMingLiU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33781" y="3715941"/>
            <a:ext cx="1623218" cy="1612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7149" y="2408243"/>
            <a:ext cx="1455137" cy="14664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36040" y="2409007"/>
            <a:ext cx="1466412" cy="14653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64434" y="2410056"/>
            <a:ext cx="1464826" cy="146585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34410" y="4442405"/>
            <a:ext cx="1465308" cy="14661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68757" y="4448539"/>
            <a:ext cx="1459767" cy="14678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91038" y="4449748"/>
            <a:ext cx="1547136" cy="151580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74215" y="7442200"/>
            <a:ext cx="1005776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こんなの作ってみました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56600" y="4765786"/>
            <a:ext cx="2660963" cy="260900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03700" y="850900"/>
            <a:ext cx="45974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できました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93700" y="3214623"/>
            <a:ext cx="6946900" cy="51140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135"/>
              </a:spcBef>
              <a:buSzPct val="82456"/>
              <a:buChar char="•"/>
              <a:tabLst>
                <a:tab pos="316865" algn="l"/>
              </a:tabLst>
            </a:pPr>
            <a:r>
              <a:rPr sz="2850" b="0" dirty="0">
                <a:solidFill>
                  <a:srgbClr val="535353"/>
                </a:solidFill>
                <a:latin typeface="Gill Sans"/>
                <a:cs typeface="Gill Sans"/>
              </a:rPr>
              <a:t>Mac</a:t>
            </a:r>
            <a:r>
              <a:rPr sz="2850" b="0" spc="180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2850" b="0" spc="65" dirty="0">
                <a:solidFill>
                  <a:srgbClr val="535353"/>
                </a:solidFill>
                <a:latin typeface="Gill Sans"/>
                <a:cs typeface="Gill Sans"/>
              </a:rPr>
              <a:t>OS</a:t>
            </a:r>
            <a:r>
              <a:rPr sz="2850" b="0" spc="170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2850" b="0" dirty="0">
                <a:solidFill>
                  <a:srgbClr val="535353"/>
                </a:solidFill>
                <a:latin typeface="Gill Sans"/>
                <a:cs typeface="Gill Sans"/>
              </a:rPr>
              <a:t>X</a:t>
            </a:r>
            <a:r>
              <a:rPr sz="2850" b="0" spc="175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2850" spc="-10" dirty="0">
                <a:solidFill>
                  <a:srgbClr val="535353"/>
                </a:solidFill>
                <a:latin typeface="PMingLiU"/>
                <a:cs typeface="PMingLiU"/>
              </a:rPr>
              <a:t>らしさ溢れる</a:t>
            </a:r>
            <a:endParaRPr sz="2850" dirty="0">
              <a:latin typeface="PMingLiU"/>
              <a:cs typeface="PMingLiU"/>
            </a:endParaRPr>
          </a:p>
          <a:p>
            <a:pPr marL="317500" marR="88900" indent="-304800">
              <a:lnSpc>
                <a:spcPct val="137400"/>
              </a:lnSpc>
              <a:spcBef>
                <a:spcPts val="2900"/>
              </a:spcBef>
              <a:buSzPct val="82456"/>
              <a:buChar char="•"/>
              <a:tabLst>
                <a:tab pos="317500" algn="l"/>
              </a:tabLst>
            </a:pPr>
            <a:r>
              <a:rPr sz="2850" b="0" dirty="0">
                <a:solidFill>
                  <a:srgbClr val="535353"/>
                </a:solidFill>
                <a:latin typeface="Gill Sans"/>
                <a:cs typeface="Gill Sans"/>
              </a:rPr>
              <a:t>Emacs</a:t>
            </a:r>
            <a:r>
              <a:rPr sz="2850" b="0" spc="140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2850" spc="60" dirty="0">
                <a:solidFill>
                  <a:srgbClr val="535353"/>
                </a:solidFill>
                <a:latin typeface="PMingLiU"/>
                <a:cs typeface="PMingLiU"/>
              </a:rPr>
              <a:t>の </a:t>
            </a:r>
            <a:r>
              <a:rPr sz="2850" b="0" dirty="0">
                <a:solidFill>
                  <a:srgbClr val="535353"/>
                </a:solidFill>
                <a:latin typeface="Gill Sans"/>
                <a:cs typeface="Gill Sans"/>
              </a:rPr>
              <a:t>E</a:t>
            </a:r>
            <a:r>
              <a:rPr sz="2850" b="0" spc="140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2850" spc="55" dirty="0">
                <a:solidFill>
                  <a:srgbClr val="535353"/>
                </a:solidFill>
                <a:latin typeface="PMingLiU"/>
                <a:cs typeface="PMingLiU"/>
              </a:rPr>
              <a:t>と </a:t>
            </a:r>
            <a:r>
              <a:rPr sz="2850" b="0" dirty="0">
                <a:solidFill>
                  <a:srgbClr val="535353"/>
                </a:solidFill>
                <a:latin typeface="Gill Sans"/>
                <a:cs typeface="Gill Sans"/>
              </a:rPr>
              <a:t>M</a:t>
            </a:r>
            <a:r>
              <a:rPr sz="2850" b="0" spc="140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2850" spc="-65" dirty="0">
                <a:solidFill>
                  <a:srgbClr val="535353"/>
                </a:solidFill>
                <a:latin typeface="PMingLiU"/>
                <a:cs typeface="PMingLiU"/>
              </a:rPr>
              <a:t>をモチーフとし</a:t>
            </a:r>
            <a:r>
              <a:rPr sz="2850" b="0" spc="-50" dirty="0">
                <a:solidFill>
                  <a:srgbClr val="535353"/>
                </a:solidFill>
                <a:latin typeface="Gill Sans"/>
                <a:cs typeface="Gill Sans"/>
              </a:rPr>
              <a:t>, </a:t>
            </a:r>
            <a:r>
              <a:rPr sz="2850" b="0" dirty="0">
                <a:solidFill>
                  <a:srgbClr val="535353"/>
                </a:solidFill>
                <a:latin typeface="Gill Sans"/>
                <a:cs typeface="Gill Sans"/>
              </a:rPr>
              <a:t>GNU</a:t>
            </a:r>
            <a:r>
              <a:rPr sz="2850" b="0" spc="220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2850" b="0" dirty="0">
                <a:solidFill>
                  <a:srgbClr val="535353"/>
                </a:solidFill>
                <a:latin typeface="Gill Sans"/>
                <a:cs typeface="Gill Sans"/>
              </a:rPr>
              <a:t>horn</a:t>
            </a:r>
            <a:r>
              <a:rPr sz="2850" b="0" spc="229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2850" spc="-45" dirty="0">
                <a:solidFill>
                  <a:srgbClr val="535353"/>
                </a:solidFill>
                <a:latin typeface="PMingLiU"/>
                <a:cs typeface="PMingLiU"/>
              </a:rPr>
              <a:t>のイメージを合致</a:t>
            </a:r>
            <a:endParaRPr sz="2850" dirty="0">
              <a:latin typeface="PMingLiU"/>
              <a:cs typeface="PMingLiU"/>
            </a:endParaRPr>
          </a:p>
          <a:p>
            <a:pPr marL="317500" marR="26670" indent="-304800">
              <a:lnSpc>
                <a:spcPct val="137400"/>
              </a:lnSpc>
              <a:spcBef>
                <a:spcPts val="2905"/>
              </a:spcBef>
              <a:buSzPct val="82456"/>
              <a:buFont typeface="Gill Sans"/>
              <a:buChar char="•"/>
              <a:tabLst>
                <a:tab pos="317500" algn="l"/>
              </a:tabLst>
            </a:pPr>
            <a:r>
              <a:rPr sz="2850" dirty="0">
                <a:solidFill>
                  <a:srgbClr val="535353"/>
                </a:solidFill>
                <a:latin typeface="PMingLiU"/>
                <a:cs typeface="PMingLiU"/>
              </a:rPr>
              <a:t>付属のペンは</a:t>
            </a:r>
            <a:r>
              <a:rPr sz="2850" b="0" dirty="0">
                <a:solidFill>
                  <a:srgbClr val="535353"/>
                </a:solidFill>
                <a:latin typeface="Gill Sans"/>
                <a:cs typeface="Gill Sans"/>
              </a:rPr>
              <a:t>, </a:t>
            </a:r>
            <a:r>
              <a:rPr sz="2850" spc="-35" dirty="0">
                <a:solidFill>
                  <a:srgbClr val="535353"/>
                </a:solidFill>
                <a:latin typeface="PMingLiU"/>
                <a:cs typeface="PMingLiU"/>
              </a:rPr>
              <a:t>パーカー</a:t>
            </a:r>
            <a:r>
              <a:rPr sz="2850" b="0" dirty="0">
                <a:solidFill>
                  <a:srgbClr val="535353"/>
                </a:solidFill>
                <a:latin typeface="Gill Sans"/>
                <a:cs typeface="Gill Sans"/>
              </a:rPr>
              <a:t>51</a:t>
            </a:r>
            <a:r>
              <a:rPr sz="2850" spc="-20" dirty="0">
                <a:solidFill>
                  <a:srgbClr val="535353"/>
                </a:solidFill>
                <a:latin typeface="PMingLiU"/>
                <a:cs typeface="PMingLiU"/>
              </a:rPr>
              <a:t>という</a:t>
            </a:r>
            <a:r>
              <a:rPr sz="2850" spc="-45" dirty="0">
                <a:solidFill>
                  <a:srgbClr val="535353"/>
                </a:solidFill>
                <a:latin typeface="PMingLiU"/>
                <a:cs typeface="PMingLiU"/>
              </a:rPr>
              <a:t>万年筆をイメージ</a:t>
            </a:r>
            <a:endParaRPr sz="2850" dirty="0">
              <a:latin typeface="PMingLiU"/>
              <a:cs typeface="PMingLiU"/>
            </a:endParaRPr>
          </a:p>
          <a:p>
            <a:pPr marL="317500" marR="5080" indent="-304800">
              <a:lnSpc>
                <a:spcPct val="137400"/>
              </a:lnSpc>
              <a:spcBef>
                <a:spcPts val="2900"/>
              </a:spcBef>
              <a:buSzPct val="82456"/>
              <a:buFont typeface="Gill Sans"/>
              <a:buChar char="•"/>
              <a:tabLst>
                <a:tab pos="317500" algn="l"/>
              </a:tabLst>
            </a:pPr>
            <a:r>
              <a:rPr sz="2850" dirty="0">
                <a:solidFill>
                  <a:srgbClr val="535353"/>
                </a:solidFill>
                <a:latin typeface="PMingLiU"/>
                <a:cs typeface="PMingLiU"/>
              </a:rPr>
              <a:t>使うほどに手になじむ</a:t>
            </a:r>
            <a:r>
              <a:rPr sz="2850" b="0" dirty="0">
                <a:solidFill>
                  <a:srgbClr val="535353"/>
                </a:solidFill>
                <a:latin typeface="Gill Sans"/>
                <a:cs typeface="Gill Sans"/>
              </a:rPr>
              <a:t>, </a:t>
            </a:r>
            <a:r>
              <a:rPr sz="2850" spc="-15" dirty="0">
                <a:solidFill>
                  <a:srgbClr val="535353"/>
                </a:solidFill>
                <a:latin typeface="PMingLiU"/>
                <a:cs typeface="PMingLiU"/>
              </a:rPr>
              <a:t>世界中の</a:t>
            </a:r>
            <a:r>
              <a:rPr sz="2850" spc="-5" dirty="0">
                <a:solidFill>
                  <a:srgbClr val="535353"/>
                </a:solidFill>
                <a:latin typeface="PMingLiU"/>
                <a:cs typeface="PMingLiU"/>
              </a:rPr>
              <a:t>人々から愛される逸品の意を込</a:t>
            </a:r>
            <a:r>
              <a:rPr sz="2850" spc="-60" dirty="0">
                <a:solidFill>
                  <a:srgbClr val="535353"/>
                </a:solidFill>
                <a:latin typeface="PMingLiU"/>
                <a:cs typeface="PMingLiU"/>
              </a:rPr>
              <a:t>めて</a:t>
            </a:r>
            <a:endParaRPr sz="2850" dirty="0">
              <a:latin typeface="PMingLiU"/>
              <a:cs typeface="PMingLiU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75300" y="850900"/>
            <a:ext cx="18542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反響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3700" y="4114800"/>
            <a:ext cx="12041505" cy="3931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100"/>
              </a:spcBef>
              <a:buSzPct val="81578"/>
              <a:buChar char="•"/>
              <a:tabLst>
                <a:tab pos="316865" algn="l"/>
              </a:tabLst>
            </a:pPr>
            <a:r>
              <a:rPr sz="3800" b="0" dirty="0">
                <a:solidFill>
                  <a:srgbClr val="535353"/>
                </a:solidFill>
                <a:latin typeface="Gill Sans"/>
                <a:cs typeface="Gill Sans"/>
              </a:rPr>
              <a:t>Carbon</a:t>
            </a:r>
            <a:r>
              <a:rPr sz="3800" b="0" spc="80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3800" b="0" dirty="0">
                <a:solidFill>
                  <a:srgbClr val="535353"/>
                </a:solidFill>
                <a:latin typeface="Gill Sans"/>
                <a:cs typeface="Gill Sans"/>
              </a:rPr>
              <a:t>Emacs</a:t>
            </a:r>
            <a:r>
              <a:rPr sz="3800" b="0" spc="85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3800" b="0" dirty="0">
                <a:solidFill>
                  <a:srgbClr val="535353"/>
                </a:solidFill>
                <a:latin typeface="Gill Sans"/>
                <a:cs typeface="Gill Sans"/>
              </a:rPr>
              <a:t>Package</a:t>
            </a:r>
            <a:r>
              <a:rPr sz="3800" b="0" spc="85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3800" b="0" spc="-10" dirty="0">
                <a:solidFill>
                  <a:srgbClr val="535353"/>
                </a:solidFill>
                <a:latin typeface="Gill Sans"/>
                <a:cs typeface="Gill Sans"/>
              </a:rPr>
              <a:t>2006</a:t>
            </a:r>
            <a:r>
              <a:rPr sz="3800" dirty="0">
                <a:solidFill>
                  <a:srgbClr val="535353"/>
                </a:solidFill>
                <a:latin typeface="PMingLiU"/>
                <a:cs typeface="PMingLiU"/>
              </a:rPr>
              <a:t>年</a:t>
            </a:r>
            <a:r>
              <a:rPr sz="3800" b="0" dirty="0">
                <a:solidFill>
                  <a:srgbClr val="535353"/>
                </a:solidFill>
                <a:latin typeface="Gill Sans"/>
                <a:cs typeface="Gill Sans"/>
              </a:rPr>
              <a:t>3</a:t>
            </a:r>
            <a:r>
              <a:rPr sz="3800" dirty="0">
                <a:solidFill>
                  <a:srgbClr val="535353"/>
                </a:solidFill>
                <a:latin typeface="PMingLiU"/>
                <a:cs typeface="PMingLiU"/>
              </a:rPr>
              <a:t>月版に採用</a:t>
            </a:r>
            <a:r>
              <a:rPr sz="3800" b="0" spc="-50" dirty="0">
                <a:solidFill>
                  <a:srgbClr val="535353"/>
                </a:solidFill>
                <a:latin typeface="Gill Sans"/>
                <a:cs typeface="Gill Sans"/>
              </a:rPr>
              <a:t>!</a:t>
            </a:r>
            <a:endParaRPr sz="3800">
              <a:latin typeface="Gill Sans"/>
              <a:cs typeface="Gill Sans"/>
            </a:endParaRPr>
          </a:p>
          <a:p>
            <a:pPr>
              <a:lnSpc>
                <a:spcPct val="100000"/>
              </a:lnSpc>
              <a:spcBef>
                <a:spcPts val="994"/>
              </a:spcBef>
              <a:buClr>
                <a:srgbClr val="535353"/>
              </a:buClr>
              <a:buFont typeface="Gill Sans"/>
              <a:buChar char="•"/>
            </a:pPr>
            <a:endParaRPr sz="3800">
              <a:latin typeface="Gill Sans"/>
              <a:cs typeface="Gill Sans"/>
            </a:endParaRPr>
          </a:p>
          <a:p>
            <a:pPr marL="316865" indent="-304165">
              <a:lnSpc>
                <a:spcPct val="100000"/>
              </a:lnSpc>
              <a:buSzPct val="81578"/>
              <a:buFont typeface="Gill Sans"/>
              <a:buChar char="•"/>
              <a:tabLst>
                <a:tab pos="316865" algn="l"/>
              </a:tabLst>
            </a:pPr>
            <a:r>
              <a:rPr sz="3800" dirty="0">
                <a:solidFill>
                  <a:srgbClr val="535353"/>
                </a:solidFill>
                <a:latin typeface="PMingLiU"/>
                <a:cs typeface="PMingLiU"/>
              </a:rPr>
              <a:t>本家にも提供しないかとの声が</a:t>
            </a:r>
            <a:r>
              <a:rPr sz="3800" b="0" spc="-50" dirty="0">
                <a:solidFill>
                  <a:srgbClr val="535353"/>
                </a:solidFill>
                <a:latin typeface="Gill Sans"/>
                <a:cs typeface="Gill Sans"/>
              </a:rPr>
              <a:t>!</a:t>
            </a:r>
            <a:endParaRPr sz="3800">
              <a:latin typeface="Gill Sans"/>
              <a:cs typeface="Gill Sans"/>
            </a:endParaRPr>
          </a:p>
          <a:p>
            <a:pPr marL="317500" marR="5080" indent="-304800">
              <a:lnSpc>
                <a:spcPct val="136000"/>
              </a:lnSpc>
              <a:spcBef>
                <a:spcPts val="3800"/>
              </a:spcBef>
              <a:buSzPct val="81578"/>
              <a:buChar char="•"/>
              <a:tabLst>
                <a:tab pos="317500" algn="l"/>
              </a:tabLst>
            </a:pPr>
            <a:r>
              <a:rPr sz="3800" b="0" dirty="0">
                <a:solidFill>
                  <a:srgbClr val="535353"/>
                </a:solidFill>
                <a:latin typeface="Gill Sans"/>
                <a:cs typeface="Gill Sans"/>
              </a:rPr>
              <a:t>emacs-devel </a:t>
            </a:r>
            <a:r>
              <a:rPr sz="3800" spc="-35" dirty="0">
                <a:solidFill>
                  <a:srgbClr val="535353"/>
                </a:solidFill>
                <a:latin typeface="PMingLiU"/>
                <a:cs typeface="PMingLiU"/>
              </a:rPr>
              <a:t>で交渉してもらうも</a:t>
            </a:r>
            <a:r>
              <a:rPr sz="3800" b="0" spc="-114" dirty="0">
                <a:solidFill>
                  <a:srgbClr val="535353"/>
                </a:solidFill>
                <a:latin typeface="Gill Sans"/>
                <a:cs typeface="Gill Sans"/>
              </a:rPr>
              <a:t>, </a:t>
            </a:r>
            <a:r>
              <a:rPr sz="3800" b="0" dirty="0">
                <a:solidFill>
                  <a:srgbClr val="535353"/>
                </a:solidFill>
                <a:latin typeface="Gill Sans"/>
                <a:cs typeface="Gill Sans"/>
              </a:rPr>
              <a:t>22.1 </a:t>
            </a:r>
            <a:r>
              <a:rPr sz="3800" spc="-65" dirty="0">
                <a:solidFill>
                  <a:srgbClr val="535353"/>
                </a:solidFill>
                <a:latin typeface="PMingLiU"/>
                <a:cs typeface="PMingLiU"/>
              </a:rPr>
              <a:t>がリリースされる</a:t>
            </a:r>
            <a:r>
              <a:rPr sz="3800" spc="-50" dirty="0">
                <a:solidFill>
                  <a:srgbClr val="535353"/>
                </a:solidFill>
                <a:latin typeface="PMingLiU"/>
                <a:cs typeface="PMingLiU"/>
              </a:rPr>
              <a:t>まではダメらしい</a:t>
            </a:r>
            <a:endParaRPr sz="3800">
              <a:latin typeface="PMingLiU"/>
              <a:cs typeface="PMingLiU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3300" y="850900"/>
            <a:ext cx="109982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こんな案もいただきました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3700" y="3594100"/>
            <a:ext cx="12054840" cy="4960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100"/>
              </a:spcBef>
              <a:buSzPct val="81578"/>
              <a:buChar char="•"/>
              <a:tabLst>
                <a:tab pos="316865" algn="l"/>
              </a:tabLst>
            </a:pPr>
            <a:r>
              <a:rPr sz="3800" b="0" dirty="0">
                <a:solidFill>
                  <a:srgbClr val="535353"/>
                </a:solidFill>
                <a:latin typeface="Gill Sans"/>
                <a:cs typeface="Gill Sans"/>
              </a:rPr>
              <a:t>2006</a:t>
            </a:r>
            <a:r>
              <a:rPr sz="3800" dirty="0">
                <a:solidFill>
                  <a:srgbClr val="535353"/>
                </a:solidFill>
                <a:latin typeface="PMingLiU"/>
                <a:cs typeface="PMingLiU"/>
              </a:rPr>
              <a:t>年</a:t>
            </a:r>
            <a:r>
              <a:rPr sz="3800" b="0" dirty="0">
                <a:solidFill>
                  <a:srgbClr val="535353"/>
                </a:solidFill>
                <a:latin typeface="Gill Sans"/>
                <a:cs typeface="Gill Sans"/>
              </a:rPr>
              <a:t>8</a:t>
            </a:r>
            <a:r>
              <a:rPr sz="3800" spc="-50" dirty="0">
                <a:solidFill>
                  <a:srgbClr val="535353"/>
                </a:solidFill>
                <a:latin typeface="PMingLiU"/>
                <a:cs typeface="PMingLiU"/>
              </a:rPr>
              <a:t>月</a:t>
            </a:r>
            <a:endParaRPr sz="3800">
              <a:latin typeface="PMingLiU"/>
              <a:cs typeface="PMingLiU"/>
            </a:endParaRPr>
          </a:p>
          <a:p>
            <a:pPr>
              <a:lnSpc>
                <a:spcPct val="100000"/>
              </a:lnSpc>
              <a:spcBef>
                <a:spcPts val="500"/>
              </a:spcBef>
              <a:buClr>
                <a:srgbClr val="535353"/>
              </a:buClr>
              <a:buFont typeface="Gill Sans"/>
              <a:buChar char="•"/>
            </a:pPr>
            <a:endParaRPr sz="3800">
              <a:latin typeface="PMingLiU"/>
              <a:cs typeface="PMingLiU"/>
            </a:endParaRPr>
          </a:p>
          <a:p>
            <a:pPr marL="316865" indent="-304165">
              <a:lnSpc>
                <a:spcPct val="100000"/>
              </a:lnSpc>
              <a:buSzPct val="81578"/>
              <a:buChar char="•"/>
              <a:tabLst>
                <a:tab pos="316865" algn="l"/>
              </a:tabLst>
            </a:pPr>
            <a:r>
              <a:rPr sz="3800" b="0" spc="-475" dirty="0">
                <a:solidFill>
                  <a:srgbClr val="535353"/>
                </a:solidFill>
                <a:latin typeface="Gill Sans"/>
                <a:cs typeface="Gill Sans"/>
              </a:rPr>
              <a:t>T</a:t>
            </a:r>
            <a:r>
              <a:rPr sz="3800" b="0" spc="55" dirty="0">
                <a:solidFill>
                  <a:srgbClr val="535353"/>
                </a:solidFill>
                <a:latin typeface="Gill Sans"/>
                <a:cs typeface="Gill Sans"/>
              </a:rPr>
              <a:t>omasz</a:t>
            </a:r>
            <a:r>
              <a:rPr sz="3800" b="0" spc="-150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3800" b="0" dirty="0">
                <a:solidFill>
                  <a:srgbClr val="535353"/>
                </a:solidFill>
                <a:latin typeface="Gill Sans"/>
                <a:cs typeface="Gill Sans"/>
              </a:rPr>
              <a:t>Mieszkowski</a:t>
            </a:r>
            <a:r>
              <a:rPr sz="3800" b="0" spc="-165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3800" spc="-10" dirty="0">
                <a:solidFill>
                  <a:srgbClr val="535353"/>
                </a:solidFill>
                <a:latin typeface="PMingLiU"/>
                <a:cs typeface="PMingLiU"/>
              </a:rPr>
              <a:t>さんからのご提案</a:t>
            </a:r>
            <a:endParaRPr sz="3800">
              <a:latin typeface="PMingLiU"/>
              <a:cs typeface="PMingLiU"/>
            </a:endParaRPr>
          </a:p>
          <a:p>
            <a:pPr>
              <a:lnSpc>
                <a:spcPct val="100000"/>
              </a:lnSpc>
              <a:spcBef>
                <a:spcPts val="500"/>
              </a:spcBef>
              <a:buClr>
                <a:srgbClr val="535353"/>
              </a:buClr>
              <a:buFont typeface="Gill Sans"/>
              <a:buChar char="•"/>
            </a:pPr>
            <a:endParaRPr sz="3800">
              <a:latin typeface="PMingLiU"/>
              <a:cs typeface="PMingLiU"/>
            </a:endParaRPr>
          </a:p>
          <a:p>
            <a:pPr marL="832485" lvl="1" indent="-438784">
              <a:lnSpc>
                <a:spcPct val="100000"/>
              </a:lnSpc>
              <a:buSzPct val="81578"/>
              <a:buChar char="•"/>
              <a:tabLst>
                <a:tab pos="832485" algn="l"/>
              </a:tabLst>
            </a:pPr>
            <a:r>
              <a:rPr sz="3800" b="0" dirty="0">
                <a:solidFill>
                  <a:srgbClr val="535353"/>
                </a:solidFill>
                <a:latin typeface="Gill Sans"/>
                <a:cs typeface="Gill Sans"/>
              </a:rPr>
              <a:t>[Macemacsjp-users</a:t>
            </a:r>
            <a:r>
              <a:rPr sz="3800" b="0" spc="265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3800" b="0" spc="-10" dirty="0">
                <a:solidFill>
                  <a:srgbClr val="535353"/>
                </a:solidFill>
                <a:latin typeface="Gill Sans"/>
                <a:cs typeface="Gill Sans"/>
              </a:rPr>
              <a:t>1145]</a:t>
            </a:r>
            <a:endParaRPr sz="3800">
              <a:latin typeface="Gill Sans"/>
              <a:cs typeface="Gill Sans"/>
            </a:endParaRPr>
          </a:p>
          <a:p>
            <a:pPr marL="317500" marR="5080" indent="-304800">
              <a:lnSpc>
                <a:spcPct val="136000"/>
              </a:lnSpc>
              <a:spcBef>
                <a:spcPts val="1895"/>
              </a:spcBef>
              <a:buSzPct val="81578"/>
              <a:buFont typeface="Gill Sans"/>
              <a:buChar char="•"/>
              <a:tabLst>
                <a:tab pos="317500" algn="l"/>
              </a:tabLst>
            </a:pPr>
            <a:r>
              <a:rPr sz="3800" spc="-40" dirty="0">
                <a:solidFill>
                  <a:srgbClr val="535353"/>
                </a:solidFill>
                <a:latin typeface="PMingLiU"/>
                <a:cs typeface="PMingLiU"/>
              </a:rPr>
              <a:t>ペンとのマッチングを考えると</a:t>
            </a:r>
            <a:r>
              <a:rPr sz="3800" b="0" spc="-120" dirty="0">
                <a:solidFill>
                  <a:srgbClr val="535353"/>
                </a:solidFill>
                <a:latin typeface="Gill Sans"/>
                <a:cs typeface="Gill Sans"/>
              </a:rPr>
              <a:t>, </a:t>
            </a:r>
            <a:r>
              <a:rPr sz="3800" spc="-5" dirty="0">
                <a:solidFill>
                  <a:srgbClr val="535353"/>
                </a:solidFill>
                <a:latin typeface="PMingLiU"/>
                <a:cs typeface="PMingLiU"/>
              </a:rPr>
              <a:t>現行の濃さを維持した</a:t>
            </a:r>
            <a:r>
              <a:rPr sz="3800" dirty="0">
                <a:solidFill>
                  <a:srgbClr val="535353"/>
                </a:solidFill>
                <a:latin typeface="PMingLiU"/>
                <a:cs typeface="PMingLiU"/>
              </a:rPr>
              <a:t>まま</a:t>
            </a:r>
            <a:r>
              <a:rPr sz="3800" b="0" spc="-105" dirty="0">
                <a:solidFill>
                  <a:srgbClr val="535353"/>
                </a:solidFill>
                <a:latin typeface="Gill Sans"/>
                <a:cs typeface="Gill Sans"/>
              </a:rPr>
              <a:t>, </a:t>
            </a:r>
            <a:r>
              <a:rPr sz="3800" spc="-5" dirty="0">
                <a:solidFill>
                  <a:srgbClr val="535353"/>
                </a:solidFill>
                <a:latin typeface="PMingLiU"/>
                <a:cs typeface="PMingLiU"/>
              </a:rPr>
              <a:t>透明感が出せないかなぁ</a:t>
            </a:r>
            <a:endParaRPr sz="3800">
              <a:latin typeface="PMingLiU"/>
              <a:cs typeface="PMingLiU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1000" y="5041900"/>
            <a:ext cx="1625600" cy="1625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7075" y="850900"/>
            <a:ext cx="1001204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ドキュメント用アイコン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3700" y="3352800"/>
            <a:ext cx="8496300" cy="5443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100"/>
              </a:spcBef>
              <a:buSzPct val="81578"/>
              <a:buChar char="•"/>
              <a:tabLst>
                <a:tab pos="316865" algn="l"/>
              </a:tabLst>
            </a:pPr>
            <a:r>
              <a:rPr sz="3800" b="0" dirty="0">
                <a:solidFill>
                  <a:srgbClr val="535353"/>
                </a:solidFill>
                <a:latin typeface="Gill Sans"/>
                <a:cs typeface="Gill Sans"/>
              </a:rPr>
              <a:t>2006</a:t>
            </a:r>
            <a:r>
              <a:rPr sz="3800" dirty="0">
                <a:solidFill>
                  <a:srgbClr val="535353"/>
                </a:solidFill>
                <a:latin typeface="PMingLiU"/>
                <a:cs typeface="PMingLiU"/>
              </a:rPr>
              <a:t>年</a:t>
            </a:r>
            <a:r>
              <a:rPr sz="3800" b="0" dirty="0">
                <a:solidFill>
                  <a:srgbClr val="535353"/>
                </a:solidFill>
                <a:latin typeface="Gill Sans"/>
                <a:cs typeface="Gill Sans"/>
              </a:rPr>
              <a:t>11</a:t>
            </a:r>
            <a:r>
              <a:rPr sz="3800" spc="-50" dirty="0">
                <a:solidFill>
                  <a:srgbClr val="535353"/>
                </a:solidFill>
                <a:latin typeface="PMingLiU"/>
                <a:cs typeface="PMingLiU"/>
              </a:rPr>
              <a:t>月</a:t>
            </a:r>
            <a:endParaRPr sz="3800">
              <a:latin typeface="PMingLiU"/>
              <a:cs typeface="PMingLiU"/>
            </a:endParaRPr>
          </a:p>
          <a:p>
            <a:pPr>
              <a:lnSpc>
                <a:spcPct val="100000"/>
              </a:lnSpc>
              <a:spcBef>
                <a:spcPts val="500"/>
              </a:spcBef>
              <a:buClr>
                <a:srgbClr val="535353"/>
              </a:buClr>
              <a:buFont typeface="Gill Sans"/>
              <a:buChar char="•"/>
            </a:pPr>
            <a:endParaRPr sz="3800">
              <a:latin typeface="PMingLiU"/>
              <a:cs typeface="PMingLiU"/>
            </a:endParaRPr>
          </a:p>
          <a:p>
            <a:pPr marL="316865" indent="-304165">
              <a:lnSpc>
                <a:spcPct val="100000"/>
              </a:lnSpc>
              <a:buSzPct val="81578"/>
              <a:buFont typeface="Gill Sans"/>
              <a:buChar char="•"/>
              <a:tabLst>
                <a:tab pos="316865" algn="l"/>
              </a:tabLst>
            </a:pPr>
            <a:r>
              <a:rPr sz="3800" spc="-45" dirty="0">
                <a:solidFill>
                  <a:srgbClr val="535353"/>
                </a:solidFill>
                <a:latin typeface="PMingLiU"/>
                <a:cs typeface="PMingLiU"/>
              </a:rPr>
              <a:t>ドキュメント用アイコンも作らない？</a:t>
            </a:r>
            <a:endParaRPr sz="3800">
              <a:latin typeface="PMingLiU"/>
              <a:cs typeface="PMingLiU"/>
            </a:endParaRPr>
          </a:p>
          <a:p>
            <a:pPr>
              <a:lnSpc>
                <a:spcPct val="100000"/>
              </a:lnSpc>
              <a:spcBef>
                <a:spcPts val="500"/>
              </a:spcBef>
              <a:buClr>
                <a:srgbClr val="535353"/>
              </a:buClr>
              <a:buFont typeface="Gill Sans"/>
              <a:buChar char="•"/>
            </a:pPr>
            <a:endParaRPr sz="3800">
              <a:latin typeface="PMingLiU"/>
              <a:cs typeface="PMingLiU"/>
            </a:endParaRPr>
          </a:p>
          <a:p>
            <a:pPr marL="832485" lvl="1" indent="-438784">
              <a:lnSpc>
                <a:spcPct val="100000"/>
              </a:lnSpc>
              <a:buSzPct val="81578"/>
              <a:buChar char="•"/>
              <a:tabLst>
                <a:tab pos="832485" algn="l"/>
              </a:tabLst>
            </a:pPr>
            <a:r>
              <a:rPr sz="3800" b="0" dirty="0">
                <a:solidFill>
                  <a:srgbClr val="535353"/>
                </a:solidFill>
                <a:latin typeface="Gill Sans"/>
                <a:cs typeface="Gill Sans"/>
              </a:rPr>
              <a:t>[Macemacsjp-users</a:t>
            </a:r>
            <a:r>
              <a:rPr sz="3800" b="0" spc="265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3800" b="0" spc="-10" dirty="0">
                <a:solidFill>
                  <a:srgbClr val="535353"/>
                </a:solidFill>
                <a:latin typeface="Gill Sans"/>
                <a:cs typeface="Gill Sans"/>
              </a:rPr>
              <a:t>1223]</a:t>
            </a:r>
            <a:endParaRPr sz="3800">
              <a:latin typeface="Gill Sans"/>
              <a:cs typeface="Gill Sans"/>
            </a:endParaRPr>
          </a:p>
          <a:p>
            <a:pPr marL="316865" indent="-304165">
              <a:lnSpc>
                <a:spcPct val="100000"/>
              </a:lnSpc>
              <a:spcBef>
                <a:spcPts val="3540"/>
              </a:spcBef>
              <a:buSzPct val="81578"/>
              <a:buFont typeface="Gill Sans"/>
              <a:buChar char="•"/>
              <a:tabLst>
                <a:tab pos="316865" algn="l"/>
              </a:tabLst>
            </a:pPr>
            <a:r>
              <a:rPr sz="3800" spc="-5" dirty="0">
                <a:solidFill>
                  <a:srgbClr val="535353"/>
                </a:solidFill>
                <a:latin typeface="PMingLiU"/>
                <a:cs typeface="PMingLiU"/>
              </a:rPr>
              <a:t>もうちょっと色鮮かにしない？</a:t>
            </a:r>
            <a:endParaRPr sz="3800">
              <a:latin typeface="PMingLiU"/>
              <a:cs typeface="PMingLiU"/>
            </a:endParaRPr>
          </a:p>
          <a:p>
            <a:pPr>
              <a:lnSpc>
                <a:spcPct val="100000"/>
              </a:lnSpc>
              <a:spcBef>
                <a:spcPts val="500"/>
              </a:spcBef>
              <a:buClr>
                <a:srgbClr val="535353"/>
              </a:buClr>
              <a:buFont typeface="Gill Sans"/>
              <a:buChar char="•"/>
            </a:pPr>
            <a:endParaRPr sz="3800">
              <a:latin typeface="PMingLiU"/>
              <a:cs typeface="PMingLiU"/>
            </a:endParaRPr>
          </a:p>
          <a:p>
            <a:pPr marL="697865" lvl="1" indent="-304165">
              <a:lnSpc>
                <a:spcPct val="100000"/>
              </a:lnSpc>
              <a:buSzPct val="81578"/>
              <a:buChar char="•"/>
              <a:tabLst>
                <a:tab pos="697865" algn="l"/>
              </a:tabLst>
            </a:pPr>
            <a:r>
              <a:rPr sz="3800" b="0" dirty="0">
                <a:solidFill>
                  <a:srgbClr val="535353"/>
                </a:solidFill>
                <a:latin typeface="Gill Sans"/>
                <a:cs typeface="Gill Sans"/>
              </a:rPr>
              <a:t>[Macemacsjp-users</a:t>
            </a:r>
            <a:r>
              <a:rPr sz="3800" b="0" spc="265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3800" b="0" spc="-10" dirty="0">
                <a:solidFill>
                  <a:srgbClr val="535353"/>
                </a:solidFill>
                <a:latin typeface="Gill Sans"/>
                <a:cs typeface="Gill Sans"/>
              </a:rPr>
              <a:t>1259]</a:t>
            </a:r>
            <a:endParaRPr sz="3800">
              <a:latin typeface="Gill Sans"/>
              <a:cs typeface="Gill San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39100" y="6667500"/>
            <a:ext cx="1663700" cy="16764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69500" y="6667500"/>
            <a:ext cx="1663700" cy="167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71991" y="6800339"/>
            <a:ext cx="1332326" cy="146689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39736" y="6800988"/>
            <a:ext cx="1333939" cy="145624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30959" y="4548763"/>
            <a:ext cx="1333049" cy="145493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212876" y="4540712"/>
            <a:ext cx="1344564" cy="146273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新版作成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93700" y="3594100"/>
            <a:ext cx="5596890" cy="4960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100"/>
              </a:spcBef>
              <a:buSzPct val="81578"/>
              <a:buChar char="•"/>
              <a:tabLst>
                <a:tab pos="316865" algn="l"/>
              </a:tabLst>
            </a:pPr>
            <a:r>
              <a:rPr sz="3800" b="0" dirty="0">
                <a:solidFill>
                  <a:srgbClr val="535353"/>
                </a:solidFill>
                <a:latin typeface="Gill Sans"/>
                <a:cs typeface="Gill Sans"/>
              </a:rPr>
              <a:t>2007</a:t>
            </a:r>
            <a:r>
              <a:rPr sz="3800" dirty="0">
                <a:solidFill>
                  <a:srgbClr val="535353"/>
                </a:solidFill>
                <a:latin typeface="PMingLiU"/>
                <a:cs typeface="PMingLiU"/>
              </a:rPr>
              <a:t>年</a:t>
            </a:r>
            <a:r>
              <a:rPr sz="3800" b="0" dirty="0">
                <a:solidFill>
                  <a:srgbClr val="535353"/>
                </a:solidFill>
                <a:latin typeface="Gill Sans"/>
                <a:cs typeface="Gill Sans"/>
              </a:rPr>
              <a:t>3</a:t>
            </a:r>
            <a:r>
              <a:rPr sz="3800" spc="-50" dirty="0">
                <a:solidFill>
                  <a:srgbClr val="535353"/>
                </a:solidFill>
                <a:latin typeface="PMingLiU"/>
                <a:cs typeface="PMingLiU"/>
              </a:rPr>
              <a:t>月</a:t>
            </a:r>
            <a:endParaRPr sz="3800">
              <a:latin typeface="PMingLiU"/>
              <a:cs typeface="PMingLiU"/>
            </a:endParaRPr>
          </a:p>
          <a:p>
            <a:pPr>
              <a:lnSpc>
                <a:spcPct val="100000"/>
              </a:lnSpc>
              <a:spcBef>
                <a:spcPts val="500"/>
              </a:spcBef>
              <a:buClr>
                <a:srgbClr val="535353"/>
              </a:buClr>
              <a:buFont typeface="Gill Sans"/>
              <a:buChar char="•"/>
            </a:pPr>
            <a:endParaRPr sz="3800">
              <a:latin typeface="PMingLiU"/>
              <a:cs typeface="PMingLiU"/>
            </a:endParaRPr>
          </a:p>
          <a:p>
            <a:pPr marL="316865" indent="-304165">
              <a:lnSpc>
                <a:spcPct val="100000"/>
              </a:lnSpc>
              <a:buSzPct val="81578"/>
              <a:buFont typeface="Gill Sans"/>
              <a:buChar char="•"/>
              <a:tabLst>
                <a:tab pos="316865" algn="l"/>
              </a:tabLst>
            </a:pPr>
            <a:r>
              <a:rPr sz="3800" dirty="0">
                <a:solidFill>
                  <a:srgbClr val="535353"/>
                </a:solidFill>
                <a:latin typeface="PMingLiU"/>
                <a:cs typeface="PMingLiU"/>
              </a:rPr>
              <a:t>もっと色鮮かに</a:t>
            </a:r>
            <a:r>
              <a:rPr sz="3800" b="0" spc="-50" dirty="0">
                <a:solidFill>
                  <a:srgbClr val="535353"/>
                </a:solidFill>
                <a:latin typeface="Gill Sans"/>
                <a:cs typeface="Gill Sans"/>
              </a:rPr>
              <a:t>!</a:t>
            </a:r>
            <a:endParaRPr sz="3800">
              <a:latin typeface="Gill Sans"/>
              <a:cs typeface="Gill Sans"/>
            </a:endParaRPr>
          </a:p>
          <a:p>
            <a:pPr>
              <a:lnSpc>
                <a:spcPct val="100000"/>
              </a:lnSpc>
              <a:spcBef>
                <a:spcPts val="994"/>
              </a:spcBef>
              <a:buClr>
                <a:srgbClr val="535353"/>
              </a:buClr>
              <a:buFont typeface="Gill Sans"/>
              <a:buChar char="•"/>
            </a:pPr>
            <a:endParaRPr sz="3800">
              <a:latin typeface="Gill Sans"/>
              <a:cs typeface="Gill Sans"/>
            </a:endParaRPr>
          </a:p>
          <a:p>
            <a:pPr marL="697865" lvl="1" indent="-304165">
              <a:lnSpc>
                <a:spcPct val="100000"/>
              </a:lnSpc>
              <a:buSzPct val="81578"/>
              <a:buChar char="•"/>
              <a:tabLst>
                <a:tab pos="697865" algn="l"/>
              </a:tabLst>
            </a:pPr>
            <a:r>
              <a:rPr sz="3800" b="0" dirty="0">
                <a:solidFill>
                  <a:srgbClr val="535353"/>
                </a:solidFill>
                <a:latin typeface="Gill Sans"/>
                <a:cs typeface="Gill Sans"/>
              </a:rPr>
              <a:t>[Macemacsjp-users</a:t>
            </a:r>
            <a:r>
              <a:rPr sz="3800" b="0" spc="265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3800" b="0" spc="-10" dirty="0">
                <a:solidFill>
                  <a:srgbClr val="535353"/>
                </a:solidFill>
                <a:latin typeface="Gill Sans"/>
                <a:cs typeface="Gill Sans"/>
              </a:rPr>
              <a:t>1386]</a:t>
            </a:r>
            <a:endParaRPr sz="3800">
              <a:latin typeface="Gill Sans"/>
              <a:cs typeface="Gill Sans"/>
            </a:endParaRPr>
          </a:p>
          <a:p>
            <a:pPr marL="317500" marR="5080" indent="-304800">
              <a:lnSpc>
                <a:spcPct val="136000"/>
              </a:lnSpc>
              <a:spcBef>
                <a:spcPts val="1900"/>
              </a:spcBef>
              <a:buSzPct val="81578"/>
              <a:buFont typeface="Gill Sans"/>
              <a:buChar char="•"/>
              <a:tabLst>
                <a:tab pos="317500" algn="l"/>
              </a:tabLst>
            </a:pPr>
            <a:r>
              <a:rPr sz="3800" spc="-50" dirty="0">
                <a:solidFill>
                  <a:srgbClr val="535353"/>
                </a:solidFill>
                <a:latin typeface="PMingLiU"/>
                <a:cs typeface="PMingLiU"/>
              </a:rPr>
              <a:t>カラーバリエーションも</a:t>
            </a:r>
            <a:r>
              <a:rPr sz="3800" spc="-25" dirty="0">
                <a:solidFill>
                  <a:srgbClr val="535353"/>
                </a:solidFill>
                <a:latin typeface="PMingLiU"/>
                <a:cs typeface="PMingLiU"/>
              </a:rPr>
              <a:t>作成</a:t>
            </a:r>
            <a:endParaRPr sz="3800">
              <a:latin typeface="PMingLiU"/>
              <a:cs typeface="PMingLiU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交渉再開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3700" y="3860800"/>
            <a:ext cx="11823700" cy="441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100"/>
              </a:spcBef>
              <a:buSzPct val="81578"/>
              <a:buChar char="•"/>
              <a:tabLst>
                <a:tab pos="316865" algn="l"/>
              </a:tabLst>
            </a:pPr>
            <a:r>
              <a:rPr sz="3800" b="0" dirty="0">
                <a:solidFill>
                  <a:srgbClr val="535353"/>
                </a:solidFill>
                <a:latin typeface="Gill Sans"/>
                <a:cs typeface="Gill Sans"/>
              </a:rPr>
              <a:t>2007</a:t>
            </a:r>
            <a:r>
              <a:rPr sz="3800" dirty="0">
                <a:solidFill>
                  <a:srgbClr val="535353"/>
                </a:solidFill>
                <a:latin typeface="PMingLiU"/>
                <a:cs typeface="PMingLiU"/>
              </a:rPr>
              <a:t>年</a:t>
            </a:r>
            <a:r>
              <a:rPr sz="3800" b="0" dirty="0">
                <a:solidFill>
                  <a:srgbClr val="535353"/>
                </a:solidFill>
                <a:latin typeface="Gill Sans"/>
                <a:cs typeface="Gill Sans"/>
              </a:rPr>
              <a:t>6</a:t>
            </a:r>
            <a:r>
              <a:rPr sz="3800" spc="-50" dirty="0">
                <a:solidFill>
                  <a:srgbClr val="535353"/>
                </a:solidFill>
                <a:latin typeface="PMingLiU"/>
                <a:cs typeface="PMingLiU"/>
              </a:rPr>
              <a:t>月</a:t>
            </a:r>
            <a:endParaRPr sz="3800" dirty="0">
              <a:latin typeface="PMingLiU"/>
              <a:cs typeface="PMingLiU"/>
            </a:endParaRPr>
          </a:p>
          <a:p>
            <a:pPr>
              <a:lnSpc>
                <a:spcPct val="100000"/>
              </a:lnSpc>
              <a:spcBef>
                <a:spcPts val="500"/>
              </a:spcBef>
              <a:buClr>
                <a:srgbClr val="535353"/>
              </a:buClr>
              <a:buFont typeface="Gill Sans"/>
              <a:buChar char="•"/>
            </a:pPr>
            <a:endParaRPr sz="3800" dirty="0">
              <a:latin typeface="PMingLiU"/>
              <a:cs typeface="PMingLiU"/>
            </a:endParaRPr>
          </a:p>
          <a:p>
            <a:pPr marL="316865" indent="-304165">
              <a:lnSpc>
                <a:spcPct val="100000"/>
              </a:lnSpc>
              <a:buSzPct val="81578"/>
              <a:buFont typeface="Gill Sans"/>
              <a:buChar char="•"/>
              <a:tabLst>
                <a:tab pos="316865" algn="l"/>
              </a:tabLst>
            </a:pPr>
            <a:r>
              <a:rPr sz="3800" spc="-5" dirty="0">
                <a:solidFill>
                  <a:srgbClr val="535353"/>
                </a:solidFill>
                <a:latin typeface="PMingLiU"/>
                <a:cs typeface="PMingLiU"/>
              </a:rPr>
              <a:t>やっとドキュメントの類いをまとめた</a:t>
            </a:r>
            <a:endParaRPr sz="3800" dirty="0">
              <a:latin typeface="PMingLiU"/>
              <a:cs typeface="PMingLiU"/>
            </a:endParaRPr>
          </a:p>
          <a:p>
            <a:pPr>
              <a:lnSpc>
                <a:spcPct val="100000"/>
              </a:lnSpc>
              <a:spcBef>
                <a:spcPts val="500"/>
              </a:spcBef>
              <a:buClr>
                <a:srgbClr val="535353"/>
              </a:buClr>
              <a:buFont typeface="Gill Sans"/>
              <a:buChar char="•"/>
            </a:pPr>
            <a:endParaRPr sz="3800" dirty="0">
              <a:latin typeface="PMingLiU"/>
              <a:cs typeface="PMingLiU"/>
            </a:endParaRPr>
          </a:p>
          <a:p>
            <a:pPr marL="316865" indent="-304165">
              <a:lnSpc>
                <a:spcPct val="100000"/>
              </a:lnSpc>
              <a:buSzPct val="81578"/>
              <a:buFont typeface="Gill Sans"/>
              <a:buChar char="•"/>
              <a:tabLst>
                <a:tab pos="316865" algn="l"/>
              </a:tabLst>
            </a:pPr>
            <a:r>
              <a:rPr sz="3800" dirty="0">
                <a:solidFill>
                  <a:srgbClr val="535353"/>
                </a:solidFill>
                <a:latin typeface="PMingLiU"/>
                <a:cs typeface="PMingLiU"/>
              </a:rPr>
              <a:t>山本和彦さんが </a:t>
            </a:r>
            <a:r>
              <a:rPr sz="3800" b="0" dirty="0">
                <a:solidFill>
                  <a:srgbClr val="535353"/>
                </a:solidFill>
                <a:latin typeface="Gill Sans"/>
                <a:cs typeface="Gill Sans"/>
              </a:rPr>
              <a:t>emacs-devel</a:t>
            </a:r>
            <a:r>
              <a:rPr sz="3800" b="0" spc="65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3800" spc="-40" dirty="0">
                <a:solidFill>
                  <a:srgbClr val="535353"/>
                </a:solidFill>
                <a:latin typeface="PMingLiU"/>
                <a:cs typeface="PMingLiU"/>
              </a:rPr>
              <a:t>で交渉して下さることに</a:t>
            </a:r>
            <a:endParaRPr sz="3800" dirty="0">
              <a:latin typeface="PMingLiU"/>
              <a:cs typeface="PMingLiU"/>
            </a:endParaRPr>
          </a:p>
          <a:p>
            <a:pPr>
              <a:lnSpc>
                <a:spcPct val="100000"/>
              </a:lnSpc>
              <a:spcBef>
                <a:spcPts val="500"/>
              </a:spcBef>
              <a:buClr>
                <a:srgbClr val="535353"/>
              </a:buClr>
              <a:buFont typeface="Gill Sans"/>
              <a:buChar char="•"/>
            </a:pPr>
            <a:endParaRPr sz="3800" dirty="0">
              <a:latin typeface="PMingLiU"/>
              <a:cs typeface="PMingLiU"/>
            </a:endParaRPr>
          </a:p>
          <a:p>
            <a:pPr marL="832485" lvl="1" indent="-438784">
              <a:lnSpc>
                <a:spcPct val="100000"/>
              </a:lnSpc>
              <a:buSzPct val="81578"/>
              <a:buChar char="•"/>
              <a:tabLst>
                <a:tab pos="832485" algn="l"/>
              </a:tabLst>
            </a:pPr>
            <a:r>
              <a:rPr sz="3800" b="0" dirty="0">
                <a:solidFill>
                  <a:srgbClr val="535353"/>
                </a:solidFill>
                <a:latin typeface="Gill Sans"/>
                <a:cs typeface="Gill Sans"/>
              </a:rPr>
              <a:t>[Macemacsjp-users</a:t>
            </a:r>
            <a:r>
              <a:rPr sz="3800" b="0" spc="265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3800" b="0" spc="-10" dirty="0">
                <a:solidFill>
                  <a:srgbClr val="535353"/>
                </a:solidFill>
                <a:latin typeface="Gill Sans"/>
                <a:cs typeface="Gill Sans"/>
              </a:rPr>
              <a:t>1525]</a:t>
            </a:r>
            <a:endParaRPr sz="3800" dirty="0">
              <a:latin typeface="Gill Sans"/>
              <a:cs typeface="Gill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18400" y="2819400"/>
            <a:ext cx="4381500" cy="64008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41651" y="850900"/>
            <a:ext cx="452183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本家</a:t>
            </a:r>
            <a:r>
              <a:rPr b="0" spc="-10" dirty="0">
                <a:latin typeface="Gill Sans"/>
                <a:cs typeface="Gill Sans"/>
              </a:rPr>
              <a:t>CVS</a:t>
            </a:r>
            <a:r>
              <a:rPr dirty="0"/>
              <a:t>へ</a:t>
            </a:r>
            <a:r>
              <a:rPr b="0" spc="-50" dirty="0">
                <a:latin typeface="Gill Sans"/>
                <a:cs typeface="Gill Sans"/>
              </a:rPr>
              <a:t>!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93700" y="3202685"/>
            <a:ext cx="5815330" cy="57480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130"/>
              </a:spcBef>
              <a:buSzPct val="82089"/>
              <a:buChar char="•"/>
              <a:tabLst>
                <a:tab pos="316865" algn="l"/>
              </a:tabLst>
            </a:pPr>
            <a:r>
              <a:rPr sz="3350" b="0" dirty="0">
                <a:solidFill>
                  <a:srgbClr val="535353"/>
                </a:solidFill>
                <a:latin typeface="Gill Sans"/>
                <a:cs typeface="Gill Sans"/>
              </a:rPr>
              <a:t>2007</a:t>
            </a:r>
            <a:r>
              <a:rPr sz="3350" dirty="0">
                <a:solidFill>
                  <a:srgbClr val="535353"/>
                </a:solidFill>
                <a:latin typeface="PMingLiU"/>
                <a:cs typeface="PMingLiU"/>
              </a:rPr>
              <a:t>年</a:t>
            </a:r>
            <a:r>
              <a:rPr sz="3350" b="0" dirty="0">
                <a:solidFill>
                  <a:srgbClr val="535353"/>
                </a:solidFill>
                <a:latin typeface="Gill Sans"/>
                <a:cs typeface="Gill Sans"/>
              </a:rPr>
              <a:t>7</a:t>
            </a:r>
            <a:r>
              <a:rPr sz="3350" spc="-50" dirty="0">
                <a:solidFill>
                  <a:srgbClr val="535353"/>
                </a:solidFill>
                <a:latin typeface="PMingLiU"/>
                <a:cs typeface="PMingLiU"/>
              </a:rPr>
              <a:t>月</a:t>
            </a:r>
            <a:endParaRPr sz="3350">
              <a:latin typeface="PMingLiU"/>
              <a:cs typeface="PMingLiU"/>
            </a:endParaRPr>
          </a:p>
          <a:p>
            <a:pPr marL="317500" marR="17780" indent="-304800">
              <a:lnSpc>
                <a:spcPct val="136800"/>
              </a:lnSpc>
              <a:spcBef>
                <a:spcPts val="3400"/>
              </a:spcBef>
              <a:buSzPct val="82089"/>
              <a:buFont typeface="Gill Sans"/>
              <a:buChar char="•"/>
              <a:tabLst>
                <a:tab pos="317500" algn="l"/>
              </a:tabLst>
            </a:pPr>
            <a:r>
              <a:rPr sz="3350" dirty="0">
                <a:solidFill>
                  <a:srgbClr val="535353"/>
                </a:solidFill>
                <a:latin typeface="PMingLiU"/>
                <a:cs typeface="PMingLiU"/>
              </a:rPr>
              <a:t>本家</a:t>
            </a:r>
            <a:r>
              <a:rPr sz="3350" b="0" dirty="0">
                <a:solidFill>
                  <a:srgbClr val="535353"/>
                </a:solidFill>
                <a:latin typeface="Gill Sans"/>
                <a:cs typeface="Gill Sans"/>
              </a:rPr>
              <a:t>CVS</a:t>
            </a:r>
            <a:r>
              <a:rPr sz="3350" spc="-10" dirty="0">
                <a:solidFill>
                  <a:srgbClr val="535353"/>
                </a:solidFill>
                <a:latin typeface="PMingLiU"/>
                <a:cs typeface="PMingLiU"/>
              </a:rPr>
              <a:t>ツリーへコミットし</a:t>
            </a:r>
            <a:r>
              <a:rPr sz="3350" spc="-20" dirty="0">
                <a:solidFill>
                  <a:srgbClr val="535353"/>
                </a:solidFill>
                <a:latin typeface="PMingLiU"/>
                <a:cs typeface="PMingLiU"/>
              </a:rPr>
              <a:t>てもらえることに</a:t>
            </a:r>
            <a:r>
              <a:rPr sz="3350" b="0" spc="-50" dirty="0">
                <a:solidFill>
                  <a:srgbClr val="535353"/>
                </a:solidFill>
                <a:latin typeface="Gill Sans"/>
                <a:cs typeface="Gill Sans"/>
              </a:rPr>
              <a:t>!</a:t>
            </a:r>
            <a:endParaRPr sz="3350">
              <a:latin typeface="Gill Sans"/>
              <a:cs typeface="Gill Sans"/>
            </a:endParaRPr>
          </a:p>
          <a:p>
            <a:pPr>
              <a:lnSpc>
                <a:spcPct val="100000"/>
              </a:lnSpc>
              <a:spcBef>
                <a:spcPts val="965"/>
              </a:spcBef>
              <a:buClr>
                <a:srgbClr val="535353"/>
              </a:buClr>
              <a:buFont typeface="Gill Sans"/>
              <a:buChar char="•"/>
            </a:pPr>
            <a:endParaRPr sz="3350">
              <a:latin typeface="Gill Sans"/>
              <a:cs typeface="Gill Sans"/>
            </a:endParaRPr>
          </a:p>
          <a:p>
            <a:pPr marL="316865" indent="-304165">
              <a:lnSpc>
                <a:spcPct val="100000"/>
              </a:lnSpc>
              <a:buSzPct val="82089"/>
              <a:buChar char="•"/>
              <a:tabLst>
                <a:tab pos="316865" algn="l"/>
              </a:tabLst>
            </a:pPr>
            <a:r>
              <a:rPr sz="3350" b="0" dirty="0">
                <a:solidFill>
                  <a:srgbClr val="535353"/>
                </a:solidFill>
                <a:latin typeface="Gill Sans"/>
                <a:cs typeface="Gill Sans"/>
              </a:rPr>
              <a:t>RMS</a:t>
            </a:r>
            <a:r>
              <a:rPr sz="3350" b="0" spc="114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3350" spc="25" dirty="0">
                <a:solidFill>
                  <a:srgbClr val="535353"/>
                </a:solidFill>
                <a:latin typeface="PMingLiU"/>
                <a:cs typeface="PMingLiU"/>
              </a:rPr>
              <a:t>から </a:t>
            </a:r>
            <a:r>
              <a:rPr sz="3350" b="0" dirty="0">
                <a:solidFill>
                  <a:srgbClr val="535353"/>
                </a:solidFill>
                <a:latin typeface="Gill Sans"/>
                <a:cs typeface="Gill Sans"/>
              </a:rPr>
              <a:t>DM</a:t>
            </a:r>
            <a:r>
              <a:rPr sz="3350" b="0" spc="114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3350" dirty="0">
                <a:solidFill>
                  <a:srgbClr val="535353"/>
                </a:solidFill>
                <a:latin typeface="PMingLiU"/>
                <a:cs typeface="PMingLiU"/>
              </a:rPr>
              <a:t>がきた</a:t>
            </a:r>
            <a:r>
              <a:rPr sz="3350" b="0" spc="-50" dirty="0">
                <a:solidFill>
                  <a:srgbClr val="535353"/>
                </a:solidFill>
                <a:latin typeface="Gill Sans"/>
                <a:cs typeface="Gill Sans"/>
              </a:rPr>
              <a:t>!</a:t>
            </a:r>
            <a:endParaRPr sz="3350">
              <a:latin typeface="Gill Sans"/>
              <a:cs typeface="Gill Sans"/>
            </a:endParaRPr>
          </a:p>
          <a:p>
            <a:pPr>
              <a:lnSpc>
                <a:spcPct val="100000"/>
              </a:lnSpc>
              <a:spcBef>
                <a:spcPts val="865"/>
              </a:spcBef>
              <a:buClr>
                <a:srgbClr val="535353"/>
              </a:buClr>
              <a:buFont typeface="Gill Sans"/>
              <a:buChar char="•"/>
            </a:pPr>
            <a:endParaRPr sz="3350">
              <a:latin typeface="Gill Sans"/>
              <a:cs typeface="Gill Sans"/>
            </a:endParaRPr>
          </a:p>
          <a:p>
            <a:pPr marL="697865" lvl="1" indent="-304165">
              <a:lnSpc>
                <a:spcPct val="100000"/>
              </a:lnSpc>
              <a:buSzPct val="82089"/>
              <a:buFont typeface="Gill Sans"/>
              <a:buChar char="•"/>
              <a:tabLst>
                <a:tab pos="697865" algn="l"/>
              </a:tabLst>
            </a:pPr>
            <a:r>
              <a:rPr sz="3350" spc="-5" dirty="0">
                <a:solidFill>
                  <a:srgbClr val="535353"/>
                </a:solidFill>
                <a:latin typeface="PMingLiU"/>
                <a:cs typeface="PMingLiU"/>
              </a:rPr>
              <a:t>著作権移譲の手続が必要</a:t>
            </a:r>
            <a:endParaRPr sz="3350">
              <a:latin typeface="PMingLiU"/>
              <a:cs typeface="PMingLiU"/>
            </a:endParaRPr>
          </a:p>
          <a:p>
            <a:pPr lvl="1">
              <a:lnSpc>
                <a:spcPct val="100000"/>
              </a:lnSpc>
              <a:spcBef>
                <a:spcPts val="525"/>
              </a:spcBef>
              <a:buClr>
                <a:srgbClr val="535353"/>
              </a:buClr>
              <a:buFont typeface="Gill Sans"/>
              <a:buChar char="•"/>
            </a:pPr>
            <a:endParaRPr sz="3350">
              <a:latin typeface="PMingLiU"/>
              <a:cs typeface="PMingLiU"/>
            </a:endParaRPr>
          </a:p>
          <a:p>
            <a:pPr marL="697865" lvl="1" indent="-304165">
              <a:lnSpc>
                <a:spcPct val="100000"/>
              </a:lnSpc>
              <a:buSzPct val="82089"/>
              <a:buFont typeface="Gill Sans"/>
              <a:buChar char="•"/>
              <a:tabLst>
                <a:tab pos="697865" algn="l"/>
              </a:tabLst>
            </a:pPr>
            <a:r>
              <a:rPr sz="3350" spc="-50" dirty="0">
                <a:solidFill>
                  <a:srgbClr val="535353"/>
                </a:solidFill>
                <a:latin typeface="PMingLiU"/>
                <a:cs typeface="PMingLiU"/>
              </a:rPr>
              <a:t>エアメールでサインを送る</a:t>
            </a:r>
            <a:endParaRPr sz="3350">
              <a:latin typeface="PMingLiU"/>
              <a:cs typeface="PMingLiU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74900" y="850900"/>
            <a:ext cx="82550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遂にコミットされる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3700" y="3479800"/>
            <a:ext cx="12088495" cy="5201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100"/>
              </a:spcBef>
              <a:buSzPct val="81578"/>
              <a:buChar char="•"/>
              <a:tabLst>
                <a:tab pos="316865" algn="l"/>
              </a:tabLst>
            </a:pPr>
            <a:r>
              <a:rPr sz="3800" b="0" dirty="0">
                <a:solidFill>
                  <a:srgbClr val="535353"/>
                </a:solidFill>
                <a:latin typeface="Gill Sans"/>
                <a:cs typeface="Gill Sans"/>
              </a:rPr>
              <a:t>ChangeLog</a:t>
            </a:r>
            <a:r>
              <a:rPr sz="3800" b="0" spc="80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3800" spc="25" dirty="0">
                <a:solidFill>
                  <a:srgbClr val="535353"/>
                </a:solidFill>
                <a:latin typeface="PMingLiU"/>
                <a:cs typeface="PMingLiU"/>
              </a:rPr>
              <a:t>と </a:t>
            </a:r>
            <a:r>
              <a:rPr sz="3800" b="0" dirty="0">
                <a:solidFill>
                  <a:srgbClr val="535353"/>
                </a:solidFill>
                <a:latin typeface="Gill Sans"/>
                <a:cs typeface="Gill Sans"/>
              </a:rPr>
              <a:t>etc/NEWS</a:t>
            </a:r>
            <a:r>
              <a:rPr sz="3800" b="0" spc="100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3800" spc="-55" dirty="0">
                <a:solidFill>
                  <a:srgbClr val="535353"/>
                </a:solidFill>
                <a:latin typeface="PMingLiU"/>
                <a:cs typeface="PMingLiU"/>
              </a:rPr>
              <a:t>の文面を考えてくれと言われた</a:t>
            </a:r>
            <a:endParaRPr sz="3800">
              <a:latin typeface="PMingLiU"/>
              <a:cs typeface="PMingLiU"/>
            </a:endParaRPr>
          </a:p>
          <a:p>
            <a:pPr>
              <a:lnSpc>
                <a:spcPct val="100000"/>
              </a:lnSpc>
              <a:spcBef>
                <a:spcPts val="500"/>
              </a:spcBef>
              <a:buClr>
                <a:srgbClr val="535353"/>
              </a:buClr>
              <a:buFont typeface="Gill Sans"/>
              <a:buChar char="•"/>
            </a:pPr>
            <a:endParaRPr sz="3800">
              <a:latin typeface="PMingLiU"/>
              <a:cs typeface="PMingLiU"/>
            </a:endParaRPr>
          </a:p>
          <a:p>
            <a:pPr marL="697865" lvl="1" indent="-304165">
              <a:lnSpc>
                <a:spcPct val="100000"/>
              </a:lnSpc>
              <a:buSzPct val="81578"/>
              <a:buFont typeface="Gill Sans"/>
              <a:buChar char="•"/>
              <a:tabLst>
                <a:tab pos="697865" algn="l"/>
              </a:tabLst>
            </a:pPr>
            <a:r>
              <a:rPr sz="3800" spc="-5" dirty="0">
                <a:solidFill>
                  <a:srgbClr val="535353"/>
                </a:solidFill>
                <a:latin typeface="PMingLiU"/>
                <a:cs typeface="PMingLiU"/>
              </a:rPr>
              <a:t>つたない英語で考えた</a:t>
            </a:r>
            <a:endParaRPr sz="3800">
              <a:latin typeface="PMingLiU"/>
              <a:cs typeface="PMingLiU"/>
            </a:endParaRPr>
          </a:p>
          <a:p>
            <a:pPr lvl="1">
              <a:lnSpc>
                <a:spcPct val="100000"/>
              </a:lnSpc>
              <a:spcBef>
                <a:spcPts val="500"/>
              </a:spcBef>
              <a:buClr>
                <a:srgbClr val="535353"/>
              </a:buClr>
              <a:buFont typeface="Gill Sans"/>
              <a:buChar char="•"/>
            </a:pPr>
            <a:endParaRPr sz="3800">
              <a:latin typeface="PMingLiU"/>
              <a:cs typeface="PMingLiU"/>
            </a:endParaRPr>
          </a:p>
          <a:p>
            <a:pPr marL="316865" indent="-304165">
              <a:lnSpc>
                <a:spcPct val="100000"/>
              </a:lnSpc>
              <a:buSzPct val="81578"/>
              <a:buChar char="•"/>
              <a:tabLst>
                <a:tab pos="316865" algn="l"/>
              </a:tabLst>
            </a:pPr>
            <a:r>
              <a:rPr sz="3800" b="0" dirty="0">
                <a:solidFill>
                  <a:srgbClr val="535353"/>
                </a:solidFill>
                <a:latin typeface="Gill Sans"/>
                <a:cs typeface="Gill Sans"/>
              </a:rPr>
              <a:t>2007</a:t>
            </a:r>
            <a:r>
              <a:rPr sz="3800" dirty="0">
                <a:solidFill>
                  <a:srgbClr val="535353"/>
                </a:solidFill>
                <a:latin typeface="PMingLiU"/>
                <a:cs typeface="PMingLiU"/>
              </a:rPr>
              <a:t>年</a:t>
            </a:r>
            <a:r>
              <a:rPr sz="3800" b="0" dirty="0">
                <a:solidFill>
                  <a:srgbClr val="535353"/>
                </a:solidFill>
                <a:latin typeface="Gill Sans"/>
                <a:cs typeface="Gill Sans"/>
              </a:rPr>
              <a:t>9</a:t>
            </a:r>
            <a:r>
              <a:rPr sz="3800" dirty="0">
                <a:solidFill>
                  <a:srgbClr val="535353"/>
                </a:solidFill>
                <a:latin typeface="PMingLiU"/>
                <a:cs typeface="PMingLiU"/>
              </a:rPr>
              <a:t>月</a:t>
            </a:r>
            <a:r>
              <a:rPr sz="3800" b="0" dirty="0">
                <a:solidFill>
                  <a:srgbClr val="535353"/>
                </a:solidFill>
                <a:latin typeface="Gill Sans"/>
                <a:cs typeface="Gill Sans"/>
              </a:rPr>
              <a:t>13</a:t>
            </a:r>
            <a:r>
              <a:rPr sz="3800" dirty="0">
                <a:solidFill>
                  <a:srgbClr val="535353"/>
                </a:solidFill>
                <a:latin typeface="PMingLiU"/>
                <a:cs typeface="PMingLiU"/>
              </a:rPr>
              <a:t>日 無事にコミットされました</a:t>
            </a:r>
            <a:r>
              <a:rPr sz="3800" b="0" spc="-50" dirty="0">
                <a:solidFill>
                  <a:srgbClr val="535353"/>
                </a:solidFill>
                <a:latin typeface="Gill Sans"/>
                <a:cs typeface="Gill Sans"/>
              </a:rPr>
              <a:t>!</a:t>
            </a:r>
            <a:endParaRPr sz="3800">
              <a:latin typeface="Gill Sans"/>
              <a:cs typeface="Gill Sans"/>
            </a:endParaRPr>
          </a:p>
          <a:p>
            <a:pPr marL="317500" marR="344170" indent="-304800">
              <a:lnSpc>
                <a:spcPct val="136000"/>
              </a:lnSpc>
              <a:spcBef>
                <a:spcPts val="3795"/>
              </a:spcBef>
              <a:buSzPct val="81578"/>
              <a:buFont typeface="Gill Sans"/>
              <a:buChar char="•"/>
              <a:tabLst>
                <a:tab pos="317500" algn="l"/>
              </a:tabLst>
            </a:pPr>
            <a:r>
              <a:rPr sz="3800" dirty="0">
                <a:solidFill>
                  <a:srgbClr val="535353"/>
                </a:solidFill>
                <a:latin typeface="PMingLiU"/>
                <a:cs typeface="PMingLiU"/>
              </a:rPr>
              <a:t>銭谷さんより</a:t>
            </a:r>
            <a:r>
              <a:rPr sz="3800" b="0" spc="-90" dirty="0">
                <a:solidFill>
                  <a:srgbClr val="535353"/>
                </a:solidFill>
                <a:latin typeface="Gill Sans"/>
                <a:cs typeface="Gill Sans"/>
              </a:rPr>
              <a:t>, </a:t>
            </a:r>
            <a:r>
              <a:rPr sz="3800" b="0" dirty="0">
                <a:solidFill>
                  <a:srgbClr val="535353"/>
                </a:solidFill>
                <a:latin typeface="Gill Sans"/>
                <a:cs typeface="Gill Sans"/>
              </a:rPr>
              <a:t>Mac OS X </a:t>
            </a:r>
            <a:r>
              <a:rPr sz="3800" dirty="0">
                <a:solidFill>
                  <a:srgbClr val="535353"/>
                </a:solidFill>
                <a:latin typeface="PMingLiU"/>
                <a:cs typeface="PMingLiU"/>
              </a:rPr>
              <a:t>以外の </a:t>
            </a:r>
            <a:r>
              <a:rPr sz="3800" b="0" dirty="0">
                <a:solidFill>
                  <a:srgbClr val="535353"/>
                </a:solidFill>
                <a:latin typeface="Gill Sans"/>
                <a:cs typeface="Gill Sans"/>
              </a:rPr>
              <a:t>OS </a:t>
            </a:r>
            <a:r>
              <a:rPr sz="3800" spc="-10" dirty="0">
                <a:solidFill>
                  <a:srgbClr val="535353"/>
                </a:solidFill>
                <a:latin typeface="PMingLiU"/>
                <a:cs typeface="PMingLiU"/>
              </a:rPr>
              <a:t>版でも提供しない</a:t>
            </a:r>
            <a:r>
              <a:rPr sz="3800" spc="-15" dirty="0">
                <a:solidFill>
                  <a:srgbClr val="535353"/>
                </a:solidFill>
                <a:latin typeface="PMingLiU"/>
                <a:cs typeface="PMingLiU"/>
              </a:rPr>
              <a:t>かとの声</a:t>
            </a:r>
            <a:endParaRPr sz="3800">
              <a:latin typeface="PMingLiU"/>
              <a:cs typeface="PMingLiU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7693" y="850900"/>
            <a:ext cx="94107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他の</a:t>
            </a:r>
            <a:r>
              <a:rPr b="0" spc="85" dirty="0">
                <a:latin typeface="Gill Sans"/>
                <a:cs typeface="Gill Sans"/>
              </a:rPr>
              <a:t>OS</a:t>
            </a:r>
            <a:r>
              <a:rPr spc="-45" dirty="0"/>
              <a:t>版も作ってみた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3700" y="4495800"/>
            <a:ext cx="8851900" cy="314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100"/>
              </a:spcBef>
              <a:buSzPct val="81578"/>
              <a:buChar char="•"/>
              <a:tabLst>
                <a:tab pos="316865" algn="l"/>
              </a:tabLst>
            </a:pPr>
            <a:r>
              <a:rPr sz="3800" b="0" dirty="0">
                <a:solidFill>
                  <a:srgbClr val="535353"/>
                </a:solidFill>
                <a:latin typeface="Gill Sans"/>
                <a:cs typeface="Gill Sans"/>
              </a:rPr>
              <a:t>2007</a:t>
            </a:r>
            <a:r>
              <a:rPr sz="3800" dirty="0">
                <a:solidFill>
                  <a:srgbClr val="535353"/>
                </a:solidFill>
                <a:latin typeface="PMingLiU"/>
                <a:cs typeface="PMingLiU"/>
              </a:rPr>
              <a:t>年</a:t>
            </a:r>
            <a:r>
              <a:rPr sz="3800" b="0" dirty="0">
                <a:solidFill>
                  <a:srgbClr val="535353"/>
                </a:solidFill>
                <a:latin typeface="Gill Sans"/>
                <a:cs typeface="Gill Sans"/>
              </a:rPr>
              <a:t>11</a:t>
            </a:r>
            <a:r>
              <a:rPr sz="3800" spc="-50" dirty="0">
                <a:solidFill>
                  <a:srgbClr val="535353"/>
                </a:solidFill>
                <a:latin typeface="PMingLiU"/>
                <a:cs typeface="PMingLiU"/>
              </a:rPr>
              <a:t>月</a:t>
            </a:r>
            <a:endParaRPr sz="3800" dirty="0">
              <a:latin typeface="PMingLiU"/>
              <a:cs typeface="PMingLiU"/>
            </a:endParaRPr>
          </a:p>
          <a:p>
            <a:pPr>
              <a:lnSpc>
                <a:spcPct val="100000"/>
              </a:lnSpc>
              <a:spcBef>
                <a:spcPts val="500"/>
              </a:spcBef>
              <a:buClr>
                <a:srgbClr val="535353"/>
              </a:buClr>
              <a:buFont typeface="Gill Sans"/>
              <a:buChar char="•"/>
            </a:pPr>
            <a:endParaRPr sz="3800" dirty="0">
              <a:latin typeface="PMingLiU"/>
              <a:cs typeface="PMingLiU"/>
            </a:endParaRPr>
          </a:p>
          <a:p>
            <a:pPr marL="697865" lvl="1" indent="-304165">
              <a:lnSpc>
                <a:spcPct val="100000"/>
              </a:lnSpc>
              <a:buSzPct val="81578"/>
              <a:buChar char="•"/>
              <a:tabLst>
                <a:tab pos="697865" algn="l"/>
              </a:tabLst>
            </a:pPr>
            <a:r>
              <a:rPr sz="3800" b="0" dirty="0">
                <a:solidFill>
                  <a:srgbClr val="535353"/>
                </a:solidFill>
                <a:latin typeface="Gill Sans"/>
                <a:cs typeface="Gill Sans"/>
              </a:rPr>
              <a:t>*.ico</a:t>
            </a:r>
            <a:r>
              <a:rPr sz="3800" b="0" spc="120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3800" spc="40" dirty="0">
                <a:solidFill>
                  <a:srgbClr val="535353"/>
                </a:solidFill>
                <a:latin typeface="PMingLiU"/>
                <a:cs typeface="PMingLiU"/>
              </a:rPr>
              <a:t>や </a:t>
            </a:r>
            <a:r>
              <a:rPr sz="3800" b="0" dirty="0">
                <a:solidFill>
                  <a:srgbClr val="535353"/>
                </a:solidFill>
                <a:latin typeface="Gill Sans"/>
                <a:cs typeface="Gill Sans"/>
              </a:rPr>
              <a:t>*.xpm,</a:t>
            </a:r>
            <a:r>
              <a:rPr sz="3800" b="0" spc="-185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3800" b="0" dirty="0">
                <a:solidFill>
                  <a:srgbClr val="535353"/>
                </a:solidFill>
                <a:latin typeface="Gill Sans"/>
                <a:cs typeface="Gill Sans"/>
              </a:rPr>
              <a:t>*.svg</a:t>
            </a:r>
            <a:r>
              <a:rPr sz="3800" b="0" spc="110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3800" spc="-30" dirty="0">
                <a:solidFill>
                  <a:srgbClr val="535353"/>
                </a:solidFill>
                <a:latin typeface="PMingLiU"/>
                <a:cs typeface="PMingLiU"/>
              </a:rPr>
              <a:t>なども作ってみた</a:t>
            </a:r>
            <a:endParaRPr sz="3800" dirty="0">
              <a:latin typeface="PMingLiU"/>
              <a:cs typeface="PMingLiU"/>
            </a:endParaRPr>
          </a:p>
          <a:p>
            <a:pPr lvl="1">
              <a:lnSpc>
                <a:spcPct val="100000"/>
              </a:lnSpc>
              <a:spcBef>
                <a:spcPts val="500"/>
              </a:spcBef>
              <a:buClr>
                <a:srgbClr val="535353"/>
              </a:buClr>
              <a:buFont typeface="Gill Sans"/>
              <a:buChar char="•"/>
            </a:pPr>
            <a:endParaRPr sz="3800" dirty="0">
              <a:latin typeface="PMingLiU"/>
              <a:cs typeface="PMingLiU"/>
            </a:endParaRPr>
          </a:p>
          <a:p>
            <a:pPr marL="697865" lvl="1" indent="-304165">
              <a:lnSpc>
                <a:spcPct val="100000"/>
              </a:lnSpc>
              <a:buSzPct val="81578"/>
              <a:buChar char="•"/>
              <a:tabLst>
                <a:tab pos="697865" algn="l"/>
              </a:tabLst>
            </a:pPr>
            <a:r>
              <a:rPr sz="3800" b="0" dirty="0">
                <a:solidFill>
                  <a:srgbClr val="535353"/>
                </a:solidFill>
                <a:latin typeface="Gill Sans"/>
                <a:cs typeface="Gill Sans"/>
              </a:rPr>
              <a:t>etc/images/icons</a:t>
            </a:r>
            <a:r>
              <a:rPr sz="3800" b="0" spc="350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3800" spc="-30" dirty="0">
                <a:solidFill>
                  <a:srgbClr val="535353"/>
                </a:solidFill>
                <a:latin typeface="PMingLiU"/>
                <a:cs typeface="PMingLiU"/>
              </a:rPr>
              <a:t>に入れてもらえた</a:t>
            </a:r>
            <a:r>
              <a:rPr sz="3800" b="0" spc="-50" dirty="0">
                <a:solidFill>
                  <a:srgbClr val="535353"/>
                </a:solidFill>
                <a:latin typeface="Gill Sans"/>
                <a:cs typeface="Gill Sans"/>
              </a:rPr>
              <a:t>!</a:t>
            </a:r>
            <a:endParaRPr sz="3800" dirty="0">
              <a:latin typeface="Gill Sans"/>
              <a:cs typeface="Gill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07750" y="5547820"/>
            <a:ext cx="1676824" cy="18420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再度交渉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93700" y="3213607"/>
            <a:ext cx="5789295" cy="5727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95"/>
              </a:spcBef>
              <a:buSzPct val="81428"/>
              <a:buChar char="•"/>
              <a:tabLst>
                <a:tab pos="316865" algn="l"/>
              </a:tabLst>
            </a:pPr>
            <a:r>
              <a:rPr sz="3500" b="0" spc="-25" dirty="0">
                <a:solidFill>
                  <a:srgbClr val="535353"/>
                </a:solidFill>
                <a:latin typeface="Gill Sans"/>
                <a:cs typeface="Gill Sans"/>
              </a:rPr>
              <a:t>2008</a:t>
            </a:r>
            <a:r>
              <a:rPr sz="3500" spc="-35" dirty="0">
                <a:solidFill>
                  <a:srgbClr val="535353"/>
                </a:solidFill>
                <a:latin typeface="PMingLiU"/>
                <a:cs typeface="PMingLiU"/>
              </a:rPr>
              <a:t>年</a:t>
            </a:r>
            <a:r>
              <a:rPr sz="3500" b="0" spc="-25" dirty="0">
                <a:solidFill>
                  <a:srgbClr val="535353"/>
                </a:solidFill>
                <a:latin typeface="Gill Sans"/>
                <a:cs typeface="Gill Sans"/>
              </a:rPr>
              <a:t>1</a:t>
            </a:r>
            <a:r>
              <a:rPr sz="3500" spc="-50" dirty="0">
                <a:solidFill>
                  <a:srgbClr val="535353"/>
                </a:solidFill>
                <a:latin typeface="PMingLiU"/>
                <a:cs typeface="PMingLiU"/>
              </a:rPr>
              <a:t>月</a:t>
            </a:r>
            <a:endParaRPr sz="3500">
              <a:latin typeface="PMingLiU"/>
              <a:cs typeface="PMingLiU"/>
            </a:endParaRPr>
          </a:p>
          <a:p>
            <a:pPr marL="317500" marR="161925" indent="-304800" algn="just">
              <a:lnSpc>
                <a:spcPct val="133300"/>
              </a:lnSpc>
              <a:spcBef>
                <a:spcPts val="3500"/>
              </a:spcBef>
              <a:buSzPct val="81428"/>
              <a:buFont typeface="Gill Sans"/>
              <a:buChar char="•"/>
              <a:tabLst>
                <a:tab pos="317500" algn="l"/>
              </a:tabLst>
            </a:pPr>
            <a:r>
              <a:rPr sz="3500" spc="-25" dirty="0">
                <a:solidFill>
                  <a:srgbClr val="535353"/>
                </a:solidFill>
                <a:latin typeface="PMingLiU"/>
                <a:cs typeface="PMingLiU"/>
              </a:rPr>
              <a:t>銭谷さんに </a:t>
            </a:r>
            <a:r>
              <a:rPr sz="3500" b="0" dirty="0">
                <a:solidFill>
                  <a:srgbClr val="535353"/>
                </a:solidFill>
                <a:latin typeface="Gill Sans"/>
                <a:cs typeface="Gill Sans"/>
              </a:rPr>
              <a:t>UNIX </a:t>
            </a:r>
            <a:r>
              <a:rPr sz="3500" spc="-40" dirty="0">
                <a:solidFill>
                  <a:srgbClr val="535353"/>
                </a:solidFill>
                <a:latin typeface="PMingLiU"/>
                <a:cs typeface="PMingLiU"/>
              </a:rPr>
              <a:t>版にも採</a:t>
            </a:r>
            <a:r>
              <a:rPr sz="3500" spc="-70" dirty="0">
                <a:solidFill>
                  <a:srgbClr val="535353"/>
                </a:solidFill>
                <a:latin typeface="PMingLiU"/>
                <a:cs typeface="PMingLiU"/>
              </a:rPr>
              <a:t>用していただけないかと交</a:t>
            </a:r>
            <a:r>
              <a:rPr sz="3500" spc="-40" dirty="0">
                <a:solidFill>
                  <a:srgbClr val="535353"/>
                </a:solidFill>
                <a:latin typeface="PMingLiU"/>
                <a:cs typeface="PMingLiU"/>
              </a:rPr>
              <a:t>渉頂く</a:t>
            </a:r>
            <a:endParaRPr sz="3500">
              <a:latin typeface="PMingLiU"/>
              <a:cs typeface="PMingLiU"/>
            </a:endParaRPr>
          </a:p>
          <a:p>
            <a:pPr marL="317500" marR="5080" indent="-304800" algn="just">
              <a:lnSpc>
                <a:spcPct val="134500"/>
              </a:lnSpc>
              <a:spcBef>
                <a:spcPts val="3450"/>
              </a:spcBef>
              <a:buSzPct val="81428"/>
              <a:buChar char="•"/>
              <a:tabLst>
                <a:tab pos="317500" algn="l"/>
              </a:tabLst>
            </a:pPr>
            <a:r>
              <a:rPr sz="3500" b="0" dirty="0">
                <a:solidFill>
                  <a:srgbClr val="535353"/>
                </a:solidFill>
                <a:latin typeface="Gill Sans"/>
                <a:cs typeface="Gill Sans"/>
              </a:rPr>
              <a:t>RMS </a:t>
            </a:r>
            <a:r>
              <a:rPr sz="3500" spc="-40" dirty="0">
                <a:solidFill>
                  <a:srgbClr val="535353"/>
                </a:solidFill>
                <a:latin typeface="PMingLiU"/>
                <a:cs typeface="PMingLiU"/>
              </a:rPr>
              <a:t>に「口髭にしか見えな</a:t>
            </a:r>
            <a:r>
              <a:rPr sz="3500" spc="-75" dirty="0">
                <a:solidFill>
                  <a:srgbClr val="535353"/>
                </a:solidFill>
                <a:latin typeface="PMingLiU"/>
                <a:cs typeface="PMingLiU"/>
              </a:rPr>
              <a:t>いからダメ」と言われ</a:t>
            </a:r>
            <a:r>
              <a:rPr sz="3500" b="0" spc="-100" dirty="0">
                <a:solidFill>
                  <a:srgbClr val="535353"/>
                </a:solidFill>
                <a:latin typeface="Gill Sans"/>
                <a:cs typeface="Gill Sans"/>
              </a:rPr>
              <a:t>, </a:t>
            </a:r>
            <a:r>
              <a:rPr sz="3500" spc="-45" dirty="0">
                <a:solidFill>
                  <a:srgbClr val="535353"/>
                </a:solidFill>
                <a:latin typeface="PMingLiU"/>
                <a:cs typeface="PMingLiU"/>
              </a:rPr>
              <a:t>あえ</a:t>
            </a:r>
            <a:r>
              <a:rPr sz="3500" spc="-40" dirty="0">
                <a:solidFill>
                  <a:srgbClr val="535353"/>
                </a:solidFill>
                <a:latin typeface="PMingLiU"/>
                <a:cs typeface="PMingLiU"/>
              </a:rPr>
              <a:t>なく却下</a:t>
            </a:r>
            <a:endParaRPr sz="3500">
              <a:latin typeface="PMingLiU"/>
              <a:cs typeface="PMingLiU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70900" y="4889500"/>
            <a:ext cx="2463800" cy="24638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再度作る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93700" y="4770120"/>
            <a:ext cx="5687695" cy="2387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7500" marR="5080" indent="-304800" algn="just">
              <a:lnSpc>
                <a:spcPct val="136000"/>
              </a:lnSpc>
              <a:spcBef>
                <a:spcPts val="95"/>
              </a:spcBef>
              <a:buSzPct val="81578"/>
              <a:buChar char="•"/>
              <a:tabLst>
                <a:tab pos="317500" algn="l"/>
              </a:tabLst>
            </a:pPr>
            <a:r>
              <a:rPr sz="3800" b="0" dirty="0">
                <a:solidFill>
                  <a:srgbClr val="535353"/>
                </a:solidFill>
                <a:latin typeface="Gill Sans"/>
                <a:cs typeface="Gill Sans"/>
              </a:rPr>
              <a:t>RMS</a:t>
            </a:r>
            <a:r>
              <a:rPr sz="3800" b="0" spc="-60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3800" spc="-10" dirty="0">
                <a:solidFill>
                  <a:srgbClr val="535353"/>
                </a:solidFill>
                <a:latin typeface="PMingLiU"/>
                <a:cs typeface="PMingLiU"/>
              </a:rPr>
              <a:t>に「まだ口髭にしか</a:t>
            </a:r>
            <a:r>
              <a:rPr sz="3800" spc="-45" dirty="0">
                <a:solidFill>
                  <a:srgbClr val="535353"/>
                </a:solidFill>
                <a:latin typeface="PMingLiU"/>
                <a:cs typeface="PMingLiU"/>
              </a:rPr>
              <a:t>見えないからダメ」と言</a:t>
            </a:r>
            <a:r>
              <a:rPr sz="3800" spc="-15" dirty="0">
                <a:solidFill>
                  <a:srgbClr val="535353"/>
                </a:solidFill>
                <a:latin typeface="PMingLiU"/>
                <a:cs typeface="PMingLiU"/>
              </a:rPr>
              <a:t>われ却下</a:t>
            </a:r>
            <a:endParaRPr sz="3800">
              <a:latin typeface="PMingLiU"/>
              <a:cs typeface="PMingLiU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80085" y="850900"/>
            <a:ext cx="384492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再び作る</a:t>
            </a:r>
            <a:r>
              <a:rPr b="0" spc="-50" dirty="0">
                <a:latin typeface="Gill Sans"/>
                <a:cs typeface="Gill Sans"/>
              </a:rPr>
              <a:t>!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3700" y="4749800"/>
            <a:ext cx="5673725" cy="2661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100"/>
              </a:spcBef>
              <a:buSzPct val="81578"/>
              <a:buChar char="•"/>
              <a:tabLst>
                <a:tab pos="316865" algn="l"/>
              </a:tabLst>
            </a:pPr>
            <a:r>
              <a:rPr sz="3800" b="0" dirty="0">
                <a:solidFill>
                  <a:srgbClr val="535353"/>
                </a:solidFill>
                <a:latin typeface="Gill Sans"/>
                <a:cs typeface="Gill Sans"/>
              </a:rPr>
              <a:t>2008</a:t>
            </a:r>
            <a:r>
              <a:rPr sz="3800" dirty="0">
                <a:solidFill>
                  <a:srgbClr val="535353"/>
                </a:solidFill>
                <a:latin typeface="PMingLiU"/>
                <a:cs typeface="PMingLiU"/>
              </a:rPr>
              <a:t>年</a:t>
            </a:r>
            <a:r>
              <a:rPr sz="3800" b="0" dirty="0">
                <a:solidFill>
                  <a:srgbClr val="535353"/>
                </a:solidFill>
                <a:latin typeface="Gill Sans"/>
                <a:cs typeface="Gill Sans"/>
              </a:rPr>
              <a:t>2</a:t>
            </a:r>
            <a:r>
              <a:rPr sz="3800" spc="-50" dirty="0">
                <a:solidFill>
                  <a:srgbClr val="535353"/>
                </a:solidFill>
                <a:latin typeface="PMingLiU"/>
                <a:cs typeface="PMingLiU"/>
              </a:rPr>
              <a:t>月</a:t>
            </a:r>
            <a:endParaRPr sz="3800" dirty="0">
              <a:latin typeface="PMingLiU"/>
              <a:cs typeface="PMingLiU"/>
            </a:endParaRPr>
          </a:p>
          <a:p>
            <a:pPr marL="317500" marR="5080" indent="-304800">
              <a:lnSpc>
                <a:spcPct val="136000"/>
              </a:lnSpc>
              <a:spcBef>
                <a:spcPts val="3795"/>
              </a:spcBef>
              <a:buSzPct val="81578"/>
              <a:buChar char="•"/>
              <a:tabLst>
                <a:tab pos="317500" algn="l"/>
              </a:tabLst>
            </a:pPr>
            <a:r>
              <a:rPr sz="3800" b="0" dirty="0">
                <a:solidFill>
                  <a:srgbClr val="535353"/>
                </a:solidFill>
                <a:latin typeface="Gill Sans"/>
                <a:cs typeface="Gill Sans"/>
              </a:rPr>
              <a:t>RMS</a:t>
            </a:r>
            <a:r>
              <a:rPr sz="3800" b="0" spc="-55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3800" spc="-30" dirty="0" err="1">
                <a:solidFill>
                  <a:srgbClr val="535353"/>
                </a:solidFill>
                <a:latin typeface="PMingLiU"/>
                <a:cs typeface="PMingLiU"/>
              </a:rPr>
              <a:t>にやっとお</a:t>
            </a:r>
            <a:r>
              <a:rPr lang="ja-JP" altLang="en-US" sz="3800" spc="-30" dirty="0">
                <a:solidFill>
                  <a:srgbClr val="535353"/>
                </a:solidFill>
                <a:latin typeface="PMingLiU"/>
                <a:cs typeface="PMingLiU"/>
              </a:rPr>
              <a:t>墨</a:t>
            </a:r>
            <a:r>
              <a:rPr sz="3800" spc="-30" dirty="0" err="1">
                <a:solidFill>
                  <a:srgbClr val="535353"/>
                </a:solidFill>
                <a:latin typeface="PMingLiU"/>
                <a:cs typeface="PMingLiU"/>
              </a:rPr>
              <a:t>付きを</a:t>
            </a:r>
            <a:r>
              <a:rPr sz="3800" spc="-45" dirty="0" err="1">
                <a:solidFill>
                  <a:srgbClr val="535353"/>
                </a:solidFill>
                <a:latin typeface="PMingLiU"/>
                <a:cs typeface="PMingLiU"/>
              </a:rPr>
              <a:t>もらえる</a:t>
            </a:r>
            <a:endParaRPr sz="3800" dirty="0">
              <a:latin typeface="PMingLiU"/>
              <a:cs typeface="PMingLiU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27900" y="5295900"/>
            <a:ext cx="1625600" cy="1625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29800" y="5295900"/>
            <a:ext cx="1625600" cy="1625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65685" y="850900"/>
            <a:ext cx="603711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正式採用決定</a:t>
            </a:r>
            <a:r>
              <a:rPr b="0" spc="-50" dirty="0">
                <a:latin typeface="Gill Sans"/>
                <a:cs typeface="Gill Sans"/>
              </a:rPr>
              <a:t>!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100"/>
              </a:spcBef>
              <a:buSzPct val="81578"/>
              <a:buChar char="•"/>
              <a:tabLst>
                <a:tab pos="316865" algn="l"/>
              </a:tabLst>
            </a:pPr>
            <a:r>
              <a:rPr sz="3800" dirty="0"/>
              <a:t>2008</a:t>
            </a:r>
            <a:r>
              <a:rPr sz="3800" b="0" dirty="0">
                <a:latin typeface="PMingLiU"/>
                <a:cs typeface="PMingLiU"/>
              </a:rPr>
              <a:t>年</a:t>
            </a:r>
            <a:r>
              <a:rPr sz="3800" dirty="0"/>
              <a:t>3</a:t>
            </a:r>
            <a:r>
              <a:rPr sz="3800" b="0" dirty="0">
                <a:latin typeface="PMingLiU"/>
                <a:cs typeface="PMingLiU"/>
              </a:rPr>
              <a:t>月</a:t>
            </a:r>
            <a:r>
              <a:rPr sz="3800" dirty="0"/>
              <a:t>3</a:t>
            </a:r>
            <a:r>
              <a:rPr sz="3800" b="0" spc="-50" dirty="0">
                <a:latin typeface="PMingLiU"/>
                <a:cs typeface="PMingLiU"/>
              </a:rPr>
              <a:t>日</a:t>
            </a:r>
            <a:endParaRPr sz="3800">
              <a:latin typeface="PMingLiU"/>
              <a:cs typeface="PMingLiU"/>
            </a:endParaRPr>
          </a:p>
          <a:p>
            <a:pPr marL="317500" marR="5080" indent="-304800">
              <a:lnSpc>
                <a:spcPct val="136000"/>
              </a:lnSpc>
              <a:spcBef>
                <a:spcPts val="3795"/>
              </a:spcBef>
              <a:buSzPct val="81578"/>
              <a:buFont typeface="Gill Sans"/>
              <a:buChar char="•"/>
              <a:tabLst>
                <a:tab pos="317500" algn="l"/>
              </a:tabLst>
            </a:pPr>
            <a:r>
              <a:rPr sz="3800" b="0" dirty="0">
                <a:latin typeface="PMingLiU"/>
                <a:cs typeface="PMingLiU"/>
              </a:rPr>
              <a:t>無事にコミットされ</a:t>
            </a:r>
            <a:r>
              <a:rPr sz="3800" spc="-50" dirty="0"/>
              <a:t>, </a:t>
            </a:r>
            <a:r>
              <a:rPr sz="3800" dirty="0"/>
              <a:t>Emacs 23 </a:t>
            </a:r>
            <a:r>
              <a:rPr sz="3800" b="0" spc="-10" dirty="0">
                <a:latin typeface="PMingLiU"/>
                <a:cs typeface="PMingLiU"/>
              </a:rPr>
              <a:t>に正式採用が決</a:t>
            </a:r>
            <a:r>
              <a:rPr sz="3800" b="0" spc="-20" dirty="0">
                <a:latin typeface="PMingLiU"/>
                <a:cs typeface="PMingLiU"/>
              </a:rPr>
              <a:t>定する</a:t>
            </a:r>
            <a:endParaRPr sz="3800">
              <a:latin typeface="PMingLiU"/>
              <a:cs typeface="PMingLiU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65685" y="850900"/>
            <a:ext cx="567372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正式採用決定</a:t>
            </a:r>
            <a:r>
              <a:rPr b="0" spc="-50" dirty="0">
                <a:latin typeface="Gill Sans"/>
                <a:cs typeface="Gill Sans"/>
              </a:rPr>
              <a:t>!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100"/>
              </a:spcBef>
              <a:buSzPct val="81578"/>
              <a:buChar char="•"/>
              <a:tabLst>
                <a:tab pos="316865" algn="l"/>
              </a:tabLst>
            </a:pPr>
            <a:r>
              <a:rPr sz="3800" dirty="0"/>
              <a:t>2008</a:t>
            </a:r>
            <a:r>
              <a:rPr sz="3800" b="0" dirty="0">
                <a:latin typeface="PMingLiU"/>
                <a:cs typeface="PMingLiU"/>
              </a:rPr>
              <a:t>年</a:t>
            </a:r>
            <a:r>
              <a:rPr sz="3800" dirty="0"/>
              <a:t>3</a:t>
            </a:r>
            <a:r>
              <a:rPr sz="3800" b="0" dirty="0">
                <a:latin typeface="PMingLiU"/>
                <a:cs typeface="PMingLiU"/>
              </a:rPr>
              <a:t>月</a:t>
            </a:r>
            <a:r>
              <a:rPr sz="3800" dirty="0"/>
              <a:t>3</a:t>
            </a:r>
            <a:r>
              <a:rPr sz="3800" b="0" spc="-50" dirty="0">
                <a:latin typeface="PMingLiU"/>
                <a:cs typeface="PMingLiU"/>
              </a:rPr>
              <a:t>日</a:t>
            </a:r>
            <a:endParaRPr sz="3800">
              <a:latin typeface="PMingLiU"/>
              <a:cs typeface="PMingLiU"/>
            </a:endParaRPr>
          </a:p>
          <a:p>
            <a:pPr marL="317500" marR="5080" indent="-304800">
              <a:lnSpc>
                <a:spcPct val="136000"/>
              </a:lnSpc>
              <a:spcBef>
                <a:spcPts val="3795"/>
              </a:spcBef>
              <a:buSzPct val="81578"/>
              <a:buFont typeface="Gill Sans"/>
              <a:buChar char="•"/>
              <a:tabLst>
                <a:tab pos="317500" algn="l"/>
              </a:tabLst>
            </a:pPr>
            <a:r>
              <a:rPr sz="3800" b="0" dirty="0">
                <a:latin typeface="PMingLiU"/>
                <a:cs typeface="PMingLiU"/>
              </a:rPr>
              <a:t>無事にコミットされ</a:t>
            </a:r>
            <a:r>
              <a:rPr sz="3800" spc="-50" dirty="0"/>
              <a:t>, </a:t>
            </a:r>
            <a:r>
              <a:rPr sz="3800" dirty="0"/>
              <a:t>Emacs 23 </a:t>
            </a:r>
            <a:r>
              <a:rPr sz="3800" b="0" spc="-10" dirty="0">
                <a:latin typeface="PMingLiU"/>
                <a:cs typeface="PMingLiU"/>
              </a:rPr>
              <a:t>に正式採用が決</a:t>
            </a:r>
            <a:r>
              <a:rPr sz="3800" b="0" spc="-20" dirty="0">
                <a:latin typeface="PMingLiU"/>
                <a:cs typeface="PMingLiU"/>
              </a:rPr>
              <a:t>定する</a:t>
            </a:r>
            <a:endParaRPr sz="3800">
              <a:latin typeface="PMingLiU"/>
              <a:cs typeface="PMingLiU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7200" y="4483100"/>
            <a:ext cx="3251200" cy="3251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65685" y="850900"/>
            <a:ext cx="641811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正式採用決定</a:t>
            </a:r>
            <a:r>
              <a:rPr b="0" spc="-50" dirty="0">
                <a:latin typeface="Gill Sans"/>
                <a:cs typeface="Gill Sans"/>
              </a:rPr>
              <a:t>!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100"/>
              </a:spcBef>
              <a:buSzPct val="81578"/>
              <a:buChar char="•"/>
              <a:tabLst>
                <a:tab pos="316865" algn="l"/>
              </a:tabLst>
            </a:pPr>
            <a:r>
              <a:rPr sz="3800" dirty="0"/>
              <a:t>2008</a:t>
            </a:r>
            <a:r>
              <a:rPr sz="3800" b="0" dirty="0">
                <a:latin typeface="PMingLiU"/>
                <a:cs typeface="PMingLiU"/>
              </a:rPr>
              <a:t>年</a:t>
            </a:r>
            <a:r>
              <a:rPr sz="3800" dirty="0"/>
              <a:t>3</a:t>
            </a:r>
            <a:r>
              <a:rPr sz="3800" b="0" dirty="0">
                <a:latin typeface="PMingLiU"/>
                <a:cs typeface="PMingLiU"/>
              </a:rPr>
              <a:t>月</a:t>
            </a:r>
            <a:r>
              <a:rPr sz="3800" dirty="0"/>
              <a:t>3</a:t>
            </a:r>
            <a:r>
              <a:rPr sz="3800" b="0" spc="-50" dirty="0">
                <a:latin typeface="PMingLiU"/>
                <a:cs typeface="PMingLiU"/>
              </a:rPr>
              <a:t>日</a:t>
            </a:r>
            <a:endParaRPr sz="3800">
              <a:latin typeface="PMingLiU"/>
              <a:cs typeface="PMingLiU"/>
            </a:endParaRPr>
          </a:p>
          <a:p>
            <a:pPr marL="317500" marR="5080" indent="-304800">
              <a:lnSpc>
                <a:spcPct val="136000"/>
              </a:lnSpc>
              <a:spcBef>
                <a:spcPts val="3795"/>
              </a:spcBef>
              <a:buSzPct val="81578"/>
              <a:buFont typeface="Gill Sans"/>
              <a:buChar char="•"/>
              <a:tabLst>
                <a:tab pos="317500" algn="l"/>
              </a:tabLst>
            </a:pPr>
            <a:r>
              <a:rPr sz="3800" b="0" dirty="0">
                <a:latin typeface="PMingLiU"/>
                <a:cs typeface="PMingLiU"/>
              </a:rPr>
              <a:t>無事にコミットされ</a:t>
            </a:r>
            <a:r>
              <a:rPr sz="3800" spc="-50" dirty="0"/>
              <a:t>, </a:t>
            </a:r>
            <a:r>
              <a:rPr sz="3800" dirty="0"/>
              <a:t>Emacs 23 </a:t>
            </a:r>
            <a:r>
              <a:rPr sz="3800" b="0" spc="-10" dirty="0">
                <a:latin typeface="PMingLiU"/>
                <a:cs typeface="PMingLiU"/>
              </a:rPr>
              <a:t>に正式採用が決</a:t>
            </a:r>
            <a:r>
              <a:rPr sz="3800" b="0" spc="-20" dirty="0">
                <a:latin typeface="PMingLiU"/>
                <a:cs typeface="PMingLiU"/>
              </a:rPr>
              <a:t>定する</a:t>
            </a:r>
            <a:endParaRPr sz="3800">
              <a:latin typeface="PMingLiU"/>
              <a:cs typeface="PMingLiU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18100" y="850900"/>
            <a:ext cx="27686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その他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3700" y="4135120"/>
            <a:ext cx="7493000" cy="2803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7500" marR="275590" indent="-304800">
              <a:lnSpc>
                <a:spcPct val="136000"/>
              </a:lnSpc>
              <a:spcBef>
                <a:spcPts val="95"/>
              </a:spcBef>
              <a:buSzPct val="81578"/>
              <a:buChar char="•"/>
              <a:tabLst>
                <a:tab pos="317500" algn="l"/>
              </a:tabLst>
            </a:pPr>
            <a:r>
              <a:rPr sz="3800" b="0" dirty="0">
                <a:solidFill>
                  <a:srgbClr val="535353"/>
                </a:solidFill>
                <a:latin typeface="Gill Sans"/>
                <a:cs typeface="Gill Sans"/>
              </a:rPr>
              <a:t>Firemacs</a:t>
            </a:r>
            <a:r>
              <a:rPr sz="3800" b="0" spc="-110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3800" spc="-55" dirty="0">
                <a:solidFill>
                  <a:srgbClr val="535353"/>
                </a:solidFill>
                <a:latin typeface="PMingLiU"/>
                <a:cs typeface="PMingLiU"/>
              </a:rPr>
              <a:t>アイコンも作り</a:t>
            </a:r>
            <a:r>
              <a:rPr sz="3800" spc="-20" dirty="0">
                <a:solidFill>
                  <a:srgbClr val="535353"/>
                </a:solidFill>
                <a:latin typeface="PMingLiU"/>
                <a:cs typeface="PMingLiU"/>
              </a:rPr>
              <a:t>ました</a:t>
            </a:r>
            <a:endParaRPr sz="3800" dirty="0">
              <a:latin typeface="PMingLiU"/>
              <a:cs typeface="PMingLiU"/>
            </a:endParaRPr>
          </a:p>
          <a:p>
            <a:pPr marL="317500" marR="5080" indent="-304800">
              <a:lnSpc>
                <a:spcPct val="136000"/>
              </a:lnSpc>
              <a:spcBef>
                <a:spcPts val="3800"/>
              </a:spcBef>
              <a:buSzPct val="81578"/>
              <a:buChar char="•"/>
              <a:tabLst>
                <a:tab pos="317500" algn="l"/>
              </a:tabLst>
            </a:pPr>
            <a:r>
              <a:rPr sz="3800" b="0" dirty="0">
                <a:solidFill>
                  <a:srgbClr val="535353"/>
                </a:solidFill>
                <a:latin typeface="Gill Sans"/>
                <a:cs typeface="Gill Sans"/>
              </a:rPr>
              <a:t>Mew</a:t>
            </a:r>
            <a:r>
              <a:rPr sz="3800" b="0" spc="-30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3800" spc="-50" dirty="0">
                <a:solidFill>
                  <a:srgbClr val="535353"/>
                </a:solidFill>
                <a:latin typeface="PMingLiU"/>
                <a:cs typeface="PMingLiU"/>
              </a:rPr>
              <a:t>アイコンは職場の後</a:t>
            </a:r>
            <a:r>
              <a:rPr sz="3800" spc="-15" dirty="0">
                <a:solidFill>
                  <a:srgbClr val="535353"/>
                </a:solidFill>
                <a:latin typeface="PMingLiU"/>
                <a:cs typeface="PMingLiU"/>
              </a:rPr>
              <a:t>輩が作成</a:t>
            </a:r>
            <a:endParaRPr sz="3800" dirty="0">
              <a:latin typeface="PMingLiU"/>
              <a:cs typeface="PMingLiU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93175" y="4229586"/>
            <a:ext cx="1606550" cy="161902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98000" y="6819900"/>
            <a:ext cx="6096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75300" y="850900"/>
            <a:ext cx="18542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謝辞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10864" y="1877060"/>
            <a:ext cx="10149336" cy="6324600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20"/>
              </a:spcBef>
            </a:pPr>
            <a:r>
              <a:rPr sz="2400" dirty="0">
                <a:solidFill>
                  <a:srgbClr val="535353"/>
                </a:solidFill>
                <a:latin typeface="PMingLiU"/>
                <a:cs typeface="PMingLiU"/>
              </a:rPr>
              <a:t>銭谷さん</a:t>
            </a:r>
            <a:r>
              <a:rPr sz="2400" b="0" spc="-65" dirty="0">
                <a:solidFill>
                  <a:srgbClr val="535353"/>
                </a:solidFill>
                <a:latin typeface="Gill Sans"/>
                <a:cs typeface="Gill Sans"/>
              </a:rPr>
              <a:t>, </a:t>
            </a:r>
            <a:r>
              <a:rPr sz="2400" b="0" dirty="0">
                <a:solidFill>
                  <a:srgbClr val="535353"/>
                </a:solidFill>
                <a:latin typeface="Gill Sans"/>
                <a:cs typeface="Gill Sans"/>
              </a:rPr>
              <a:t>sakito</a:t>
            </a:r>
            <a:r>
              <a:rPr sz="2400" b="0" spc="60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2400" dirty="0">
                <a:solidFill>
                  <a:srgbClr val="535353"/>
                </a:solidFill>
                <a:latin typeface="PMingLiU"/>
                <a:cs typeface="PMingLiU"/>
              </a:rPr>
              <a:t>さんをはじめとする </a:t>
            </a:r>
            <a:r>
              <a:rPr sz="2400" b="0" dirty="0">
                <a:solidFill>
                  <a:srgbClr val="535353"/>
                </a:solidFill>
                <a:latin typeface="Gill Sans"/>
                <a:cs typeface="Gill Sans"/>
              </a:rPr>
              <a:t>Macemacsjp</a:t>
            </a:r>
            <a:r>
              <a:rPr sz="2400" b="0" spc="60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2400" dirty="0">
                <a:solidFill>
                  <a:srgbClr val="535353"/>
                </a:solidFill>
                <a:latin typeface="PMingLiU"/>
                <a:cs typeface="PMingLiU"/>
              </a:rPr>
              <a:t>開発者の方々</a:t>
            </a:r>
            <a:r>
              <a:rPr sz="2400" b="0" spc="-50" dirty="0">
                <a:solidFill>
                  <a:srgbClr val="535353"/>
                </a:solidFill>
                <a:latin typeface="Gill Sans"/>
                <a:cs typeface="Gill Sans"/>
              </a:rPr>
              <a:t>,</a:t>
            </a:r>
            <a:endParaRPr sz="2400" dirty="0">
              <a:latin typeface="Gill Sans"/>
              <a:cs typeface="Gill Sans"/>
            </a:endParaRPr>
          </a:p>
          <a:p>
            <a:pPr marL="115570" marR="107314" algn="ctr">
              <a:lnSpc>
                <a:spcPct val="138900"/>
              </a:lnSpc>
            </a:pPr>
            <a:r>
              <a:rPr sz="2400" dirty="0">
                <a:solidFill>
                  <a:srgbClr val="535353"/>
                </a:solidFill>
                <a:latin typeface="PMingLiU"/>
                <a:cs typeface="PMingLiU"/>
              </a:rPr>
              <a:t>山本和彦さん</a:t>
            </a:r>
            <a:r>
              <a:rPr sz="2400" b="0" spc="-55" dirty="0">
                <a:solidFill>
                  <a:srgbClr val="535353"/>
                </a:solidFill>
                <a:latin typeface="Gill Sans"/>
                <a:cs typeface="Gill Sans"/>
              </a:rPr>
              <a:t>, </a:t>
            </a:r>
            <a:r>
              <a:rPr sz="2400" dirty="0">
                <a:solidFill>
                  <a:srgbClr val="535353"/>
                </a:solidFill>
                <a:latin typeface="PMingLiU"/>
                <a:cs typeface="PMingLiU"/>
              </a:rPr>
              <a:t>山本たかのりさん</a:t>
            </a:r>
            <a:r>
              <a:rPr sz="2400" b="0" spc="-50" dirty="0">
                <a:solidFill>
                  <a:srgbClr val="535353"/>
                </a:solidFill>
                <a:latin typeface="Gill Sans"/>
                <a:cs typeface="Gill Sans"/>
              </a:rPr>
              <a:t>, </a:t>
            </a:r>
            <a:r>
              <a:rPr sz="2400" b="0" dirty="0">
                <a:solidFill>
                  <a:srgbClr val="535353"/>
                </a:solidFill>
                <a:latin typeface="Gill Sans"/>
                <a:cs typeface="Gill Sans"/>
              </a:rPr>
              <a:t>Macemacsjp-users</a:t>
            </a:r>
            <a:r>
              <a:rPr sz="2400" b="0" spc="95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2400" spc="-30" dirty="0">
                <a:solidFill>
                  <a:srgbClr val="535353"/>
                </a:solidFill>
                <a:latin typeface="PMingLiU"/>
                <a:cs typeface="PMingLiU"/>
              </a:rPr>
              <a:t>メーリングリストメ</a:t>
            </a:r>
            <a:r>
              <a:rPr sz="2400" spc="-45" dirty="0">
                <a:solidFill>
                  <a:srgbClr val="535353"/>
                </a:solidFill>
                <a:latin typeface="PMingLiU"/>
                <a:cs typeface="PMingLiU"/>
              </a:rPr>
              <a:t>ンバーの方々</a:t>
            </a:r>
            <a:r>
              <a:rPr sz="2400" b="0" spc="-75" dirty="0">
                <a:solidFill>
                  <a:srgbClr val="535353"/>
                </a:solidFill>
                <a:latin typeface="Gill Sans"/>
                <a:cs typeface="Gill Sans"/>
              </a:rPr>
              <a:t>, </a:t>
            </a:r>
            <a:r>
              <a:rPr sz="2400" dirty="0">
                <a:solidFill>
                  <a:srgbClr val="535353"/>
                </a:solidFill>
                <a:latin typeface="PMingLiU"/>
                <a:cs typeface="PMingLiU"/>
              </a:rPr>
              <a:t>ご助言くださったり</a:t>
            </a:r>
            <a:r>
              <a:rPr sz="2400" b="0" spc="-75" dirty="0">
                <a:solidFill>
                  <a:srgbClr val="535353"/>
                </a:solidFill>
                <a:latin typeface="Gill Sans"/>
                <a:cs typeface="Gill Sans"/>
              </a:rPr>
              <a:t>, </a:t>
            </a:r>
            <a:r>
              <a:rPr sz="2400" dirty="0">
                <a:solidFill>
                  <a:srgbClr val="535353"/>
                </a:solidFill>
                <a:latin typeface="PMingLiU"/>
                <a:cs typeface="PMingLiU"/>
              </a:rPr>
              <a:t>この忙しいのに</a:t>
            </a:r>
            <a:r>
              <a:rPr sz="2400" b="0" spc="-75" dirty="0">
                <a:solidFill>
                  <a:srgbClr val="535353"/>
                </a:solidFill>
                <a:latin typeface="Gill Sans"/>
                <a:cs typeface="Gill Sans"/>
              </a:rPr>
              <a:t>, </a:t>
            </a:r>
            <a:r>
              <a:rPr sz="2400" spc="-45" dirty="0">
                <a:solidFill>
                  <a:srgbClr val="535353"/>
                </a:solidFill>
                <a:latin typeface="PMingLiU"/>
                <a:cs typeface="PMingLiU"/>
              </a:rPr>
              <a:t>仕事をさぼってアイ</a:t>
            </a:r>
            <a:r>
              <a:rPr sz="2400" spc="-35" dirty="0">
                <a:solidFill>
                  <a:srgbClr val="535353"/>
                </a:solidFill>
                <a:latin typeface="PMingLiU"/>
                <a:cs typeface="PMingLiU"/>
              </a:rPr>
              <a:t>コンを作っているのを黙ってみていてくれた</a:t>
            </a:r>
            <a:r>
              <a:rPr sz="2400" b="0" spc="-65" dirty="0">
                <a:solidFill>
                  <a:srgbClr val="535353"/>
                </a:solidFill>
                <a:latin typeface="Gill Sans"/>
                <a:cs typeface="Gill Sans"/>
              </a:rPr>
              <a:t>, </a:t>
            </a:r>
            <a:r>
              <a:rPr sz="2400" spc="-30" dirty="0">
                <a:solidFill>
                  <a:srgbClr val="535353"/>
                </a:solidFill>
                <a:latin typeface="PMingLiU"/>
                <a:cs typeface="PMingLiU"/>
              </a:rPr>
              <a:t>職場スタッフのみなさん</a:t>
            </a:r>
            <a:r>
              <a:rPr sz="2400" b="0" spc="-50" dirty="0">
                <a:solidFill>
                  <a:srgbClr val="535353"/>
                </a:solidFill>
                <a:latin typeface="Gill Sans"/>
                <a:cs typeface="Gill Sans"/>
              </a:rPr>
              <a:t>, </a:t>
            </a:r>
            <a:r>
              <a:rPr sz="2400" b="0" dirty="0">
                <a:solidFill>
                  <a:srgbClr val="535353"/>
                </a:solidFill>
                <a:latin typeface="Gill Sans"/>
                <a:cs typeface="Gill Sans"/>
              </a:rPr>
              <a:t>Emacs22</a:t>
            </a:r>
            <a:r>
              <a:rPr sz="2400" b="0" spc="15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2400" spc="-40" dirty="0">
                <a:solidFill>
                  <a:srgbClr val="535353"/>
                </a:solidFill>
                <a:latin typeface="PMingLiU"/>
                <a:cs typeface="PMingLiU"/>
              </a:rPr>
              <a:t>のアイコンを作成された </a:t>
            </a:r>
            <a:r>
              <a:rPr sz="2400" b="0" dirty="0">
                <a:solidFill>
                  <a:srgbClr val="535353"/>
                </a:solidFill>
                <a:latin typeface="Gill Sans"/>
                <a:cs typeface="Gill Sans"/>
              </a:rPr>
              <a:t>Andrew</a:t>
            </a:r>
            <a:r>
              <a:rPr sz="2400" b="0" spc="15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2400" b="0" dirty="0">
                <a:solidFill>
                  <a:srgbClr val="535353"/>
                </a:solidFill>
                <a:latin typeface="Gill Sans"/>
                <a:cs typeface="Gill Sans"/>
              </a:rPr>
              <a:t>Zhilin</a:t>
            </a:r>
            <a:r>
              <a:rPr sz="2400" b="0" spc="20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2400" dirty="0">
                <a:solidFill>
                  <a:srgbClr val="535353"/>
                </a:solidFill>
                <a:latin typeface="PMingLiU"/>
                <a:cs typeface="PMingLiU"/>
              </a:rPr>
              <a:t>さん</a:t>
            </a:r>
            <a:r>
              <a:rPr sz="2400" b="0" spc="-50" dirty="0">
                <a:solidFill>
                  <a:srgbClr val="535353"/>
                </a:solidFill>
                <a:latin typeface="Gill Sans"/>
                <a:cs typeface="Gill Sans"/>
              </a:rPr>
              <a:t>,</a:t>
            </a:r>
            <a:endParaRPr sz="2400" dirty="0">
              <a:latin typeface="Gill Sans"/>
              <a:cs typeface="Gill Sans"/>
            </a:endParaRPr>
          </a:p>
          <a:p>
            <a:pPr marL="563245" marR="555625" indent="572770">
              <a:lnSpc>
                <a:spcPct val="138900"/>
              </a:lnSpc>
            </a:pPr>
            <a:r>
              <a:rPr sz="2400" spc="-5" dirty="0">
                <a:solidFill>
                  <a:srgbClr val="535353"/>
                </a:solidFill>
                <a:latin typeface="PMingLiU"/>
                <a:cs typeface="PMingLiU"/>
              </a:rPr>
              <a:t>いつも厳しく貴重な意見を下さった </a:t>
            </a:r>
            <a:r>
              <a:rPr sz="2400" b="0" dirty="0">
                <a:solidFill>
                  <a:srgbClr val="535353"/>
                </a:solidFill>
                <a:latin typeface="Gill Sans"/>
                <a:cs typeface="Gill Sans"/>
              </a:rPr>
              <a:t>Richard</a:t>
            </a:r>
            <a:r>
              <a:rPr sz="2400" b="0" spc="5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2400" b="0" dirty="0">
                <a:solidFill>
                  <a:srgbClr val="535353"/>
                </a:solidFill>
                <a:latin typeface="Gill Sans"/>
                <a:cs typeface="Gill Sans"/>
              </a:rPr>
              <a:t>Stallman</a:t>
            </a:r>
            <a:r>
              <a:rPr sz="2400" b="0" spc="5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2400" dirty="0">
                <a:solidFill>
                  <a:srgbClr val="535353"/>
                </a:solidFill>
                <a:latin typeface="PMingLiU"/>
                <a:cs typeface="PMingLiU"/>
              </a:rPr>
              <a:t>さん</a:t>
            </a:r>
            <a:r>
              <a:rPr sz="2400" b="0" spc="-50" dirty="0">
                <a:solidFill>
                  <a:srgbClr val="535353"/>
                </a:solidFill>
                <a:latin typeface="Gill Sans"/>
                <a:cs typeface="Gill Sans"/>
              </a:rPr>
              <a:t>,</a:t>
            </a:r>
            <a:r>
              <a:rPr sz="2400" b="0" spc="600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2400" b="0" dirty="0">
                <a:solidFill>
                  <a:srgbClr val="535353"/>
                </a:solidFill>
                <a:latin typeface="Gill Sans"/>
                <a:cs typeface="Gill Sans"/>
              </a:rPr>
              <a:t>Dan</a:t>
            </a:r>
            <a:r>
              <a:rPr sz="2400" b="0" spc="50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2400" b="0" dirty="0">
                <a:solidFill>
                  <a:srgbClr val="535353"/>
                </a:solidFill>
                <a:latin typeface="Gill Sans"/>
                <a:cs typeface="Gill Sans"/>
              </a:rPr>
              <a:t>Nicolaescu</a:t>
            </a:r>
            <a:r>
              <a:rPr sz="2400" b="0" spc="55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2400" dirty="0">
                <a:solidFill>
                  <a:srgbClr val="535353"/>
                </a:solidFill>
                <a:latin typeface="PMingLiU"/>
                <a:cs typeface="PMingLiU"/>
              </a:rPr>
              <a:t>さん</a:t>
            </a:r>
            <a:r>
              <a:rPr sz="2400" b="0" spc="-70" dirty="0">
                <a:solidFill>
                  <a:srgbClr val="535353"/>
                </a:solidFill>
                <a:latin typeface="Gill Sans"/>
                <a:cs typeface="Gill Sans"/>
              </a:rPr>
              <a:t>, </a:t>
            </a:r>
            <a:r>
              <a:rPr sz="2400" b="0" dirty="0">
                <a:solidFill>
                  <a:srgbClr val="535353"/>
                </a:solidFill>
                <a:latin typeface="Gill Sans"/>
                <a:cs typeface="Gill Sans"/>
              </a:rPr>
              <a:t>emacs-devel</a:t>
            </a:r>
            <a:r>
              <a:rPr sz="2400" b="0" spc="45" dirty="0">
                <a:solidFill>
                  <a:srgbClr val="535353"/>
                </a:solidFill>
                <a:latin typeface="Gill Sans"/>
                <a:cs typeface="Gill Sans"/>
              </a:rPr>
              <a:t> </a:t>
            </a:r>
            <a:r>
              <a:rPr sz="2400" spc="-45" dirty="0">
                <a:solidFill>
                  <a:srgbClr val="535353"/>
                </a:solidFill>
                <a:latin typeface="PMingLiU"/>
                <a:cs typeface="PMingLiU"/>
              </a:rPr>
              <a:t>メーリングリストメンバーの方々</a:t>
            </a:r>
            <a:r>
              <a:rPr sz="2400" b="0" spc="-50" dirty="0">
                <a:solidFill>
                  <a:srgbClr val="535353"/>
                </a:solidFill>
                <a:latin typeface="Gill Sans"/>
                <a:cs typeface="Gill Sans"/>
              </a:rPr>
              <a:t>,</a:t>
            </a:r>
            <a:endParaRPr sz="2400" dirty="0">
              <a:latin typeface="Gill Sans"/>
              <a:cs typeface="Gill Sans"/>
            </a:endParaRPr>
          </a:p>
          <a:p>
            <a:pPr marL="12065" marR="5080" algn="ctr">
              <a:lnSpc>
                <a:spcPct val="138900"/>
              </a:lnSpc>
            </a:pPr>
            <a:r>
              <a:rPr sz="2400" dirty="0">
                <a:solidFill>
                  <a:srgbClr val="535353"/>
                </a:solidFill>
                <a:latin typeface="PMingLiU"/>
                <a:cs typeface="PMingLiU"/>
              </a:rPr>
              <a:t>その他</a:t>
            </a:r>
            <a:r>
              <a:rPr sz="2400" b="0" spc="-75" dirty="0">
                <a:solidFill>
                  <a:srgbClr val="535353"/>
                </a:solidFill>
                <a:latin typeface="Gill Sans"/>
                <a:cs typeface="Gill Sans"/>
              </a:rPr>
              <a:t>, </a:t>
            </a:r>
            <a:r>
              <a:rPr sz="2400" spc="-40" dirty="0">
                <a:solidFill>
                  <a:srgbClr val="535353"/>
                </a:solidFill>
                <a:latin typeface="PMingLiU"/>
                <a:cs typeface="PMingLiU"/>
              </a:rPr>
              <a:t>ほんの少しでも携わってくださった多くの方々</a:t>
            </a:r>
            <a:r>
              <a:rPr sz="2400" b="0" spc="-75" dirty="0">
                <a:solidFill>
                  <a:srgbClr val="535353"/>
                </a:solidFill>
                <a:latin typeface="Gill Sans"/>
                <a:cs typeface="Gill Sans"/>
              </a:rPr>
              <a:t>, </a:t>
            </a:r>
            <a:r>
              <a:rPr sz="2400" spc="-10" dirty="0">
                <a:solidFill>
                  <a:srgbClr val="535353"/>
                </a:solidFill>
                <a:latin typeface="PMingLiU"/>
                <a:cs typeface="PMingLiU"/>
              </a:rPr>
              <a:t>みなさまのお力が</a:t>
            </a:r>
            <a:r>
              <a:rPr sz="2400" spc="-45" dirty="0">
                <a:solidFill>
                  <a:srgbClr val="535353"/>
                </a:solidFill>
                <a:latin typeface="PMingLiU"/>
                <a:cs typeface="PMingLiU"/>
              </a:rPr>
              <a:t>あってこそ</a:t>
            </a:r>
            <a:r>
              <a:rPr sz="2400" b="0" spc="-65" dirty="0">
                <a:solidFill>
                  <a:srgbClr val="535353"/>
                </a:solidFill>
                <a:latin typeface="Gill Sans"/>
                <a:cs typeface="Gill Sans"/>
              </a:rPr>
              <a:t>, </a:t>
            </a:r>
            <a:r>
              <a:rPr sz="2400" spc="-30" dirty="0">
                <a:solidFill>
                  <a:srgbClr val="535353"/>
                </a:solidFill>
                <a:latin typeface="PMingLiU"/>
                <a:cs typeface="PMingLiU"/>
              </a:rPr>
              <a:t>このアイコンを作ることができました</a:t>
            </a:r>
            <a:r>
              <a:rPr sz="2400" b="0" spc="-50" dirty="0">
                <a:solidFill>
                  <a:srgbClr val="535353"/>
                </a:solidFill>
                <a:latin typeface="Gill Sans"/>
                <a:cs typeface="Gill Sans"/>
              </a:rPr>
              <a:t>.</a:t>
            </a:r>
            <a:endParaRPr sz="2400" dirty="0">
              <a:latin typeface="Gill Sans"/>
              <a:cs typeface="Gill Sans"/>
            </a:endParaRPr>
          </a:p>
          <a:p>
            <a:pPr marL="2609215" marR="1119505" indent="-1651635">
              <a:lnSpc>
                <a:spcPct val="236100"/>
              </a:lnSpc>
            </a:pPr>
            <a:r>
              <a:rPr sz="2400" dirty="0">
                <a:solidFill>
                  <a:srgbClr val="535353"/>
                </a:solidFill>
                <a:latin typeface="PMingLiU"/>
                <a:cs typeface="PMingLiU"/>
              </a:rPr>
              <a:t>また</a:t>
            </a:r>
            <a:r>
              <a:rPr sz="2400" b="0" spc="-75" dirty="0">
                <a:solidFill>
                  <a:srgbClr val="535353"/>
                </a:solidFill>
                <a:latin typeface="Gill Sans"/>
                <a:cs typeface="Gill Sans"/>
              </a:rPr>
              <a:t>, </a:t>
            </a:r>
            <a:r>
              <a:rPr sz="2400" spc="-5" dirty="0">
                <a:solidFill>
                  <a:srgbClr val="535353"/>
                </a:solidFill>
                <a:latin typeface="PMingLiU"/>
                <a:cs typeface="PMingLiU"/>
              </a:rPr>
              <a:t>素晴しい書籍の表紙に採用いただいた るびきちさん</a:t>
            </a:r>
            <a:r>
              <a:rPr sz="2400" b="0" spc="-50" dirty="0">
                <a:solidFill>
                  <a:srgbClr val="535353"/>
                </a:solidFill>
                <a:latin typeface="Gill Sans"/>
                <a:cs typeface="Gill Sans"/>
              </a:rPr>
              <a:t>,</a:t>
            </a:r>
            <a:r>
              <a:rPr sz="2400" dirty="0">
                <a:solidFill>
                  <a:srgbClr val="535353"/>
                </a:solidFill>
                <a:latin typeface="PMingLiU"/>
                <a:cs typeface="PMingLiU"/>
              </a:rPr>
              <a:t>この場を借りて</a:t>
            </a:r>
            <a:r>
              <a:rPr sz="2400" b="0" spc="-70" dirty="0">
                <a:solidFill>
                  <a:srgbClr val="535353"/>
                </a:solidFill>
                <a:latin typeface="Gill Sans"/>
                <a:cs typeface="Gill Sans"/>
              </a:rPr>
              <a:t>, </a:t>
            </a:r>
            <a:r>
              <a:rPr sz="2400" dirty="0">
                <a:solidFill>
                  <a:srgbClr val="535353"/>
                </a:solidFill>
                <a:latin typeface="PMingLiU"/>
                <a:cs typeface="PMingLiU"/>
              </a:rPr>
              <a:t>お礼申し上げます</a:t>
            </a:r>
            <a:r>
              <a:rPr sz="2400" b="0" spc="-50" dirty="0">
                <a:solidFill>
                  <a:srgbClr val="535353"/>
                </a:solidFill>
                <a:latin typeface="Gill Sans"/>
                <a:cs typeface="Gill Sans"/>
              </a:rPr>
              <a:t>.</a:t>
            </a:r>
            <a:endParaRPr sz="2400" dirty="0">
              <a:latin typeface="Gill Sans"/>
              <a:cs typeface="Gill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8265" y="3187700"/>
            <a:ext cx="11717735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400" dirty="0"/>
              <a:t>ご静聴ありがとうございました</a:t>
            </a:r>
            <a:r>
              <a:rPr sz="6400" b="0" spc="-50" dirty="0">
                <a:latin typeface="Gill Sans"/>
                <a:cs typeface="Gill Sans"/>
              </a:rPr>
              <a:t>!</a:t>
            </a:r>
            <a:endParaRPr sz="6400" dirty="0">
              <a:latin typeface="Gill Sans"/>
              <a:cs typeface="Gill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387</Words>
  <Application>Microsoft Office PowerPoint</Application>
  <PresentationFormat>ユーザー設定</PresentationFormat>
  <Paragraphs>119</Paragraphs>
  <Slides>22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22</vt:i4>
      </vt:variant>
    </vt:vector>
  </HeadingPairs>
  <TitlesOfParts>
    <vt:vector size="25" baseType="lpstr">
      <vt:lpstr>Gill Sans</vt:lpstr>
      <vt:lpstr>PMingLiU</vt:lpstr>
      <vt:lpstr>Office Theme</vt:lpstr>
      <vt:lpstr>PowerPoint プレゼンテーション</vt:lpstr>
      <vt:lpstr>自己紹介</vt:lpstr>
      <vt:lpstr>きっかけ</vt:lpstr>
      <vt:lpstr>こんなの作ってみました</vt:lpstr>
      <vt:lpstr>できました</vt:lpstr>
      <vt:lpstr>反響</vt:lpstr>
      <vt:lpstr>こんな案もいただきました</vt:lpstr>
      <vt:lpstr>ドキュメント用アイコン</vt:lpstr>
      <vt:lpstr>新版作成</vt:lpstr>
      <vt:lpstr>交渉再開</vt:lpstr>
      <vt:lpstr>本家CVSへ!</vt:lpstr>
      <vt:lpstr>遂にコミットされる</vt:lpstr>
      <vt:lpstr>他のOS版も作ってみた</vt:lpstr>
      <vt:lpstr>再度交渉</vt:lpstr>
      <vt:lpstr>再度作る</vt:lpstr>
      <vt:lpstr>再び作る!</vt:lpstr>
      <vt:lpstr>正式採用決定!</vt:lpstr>
      <vt:lpstr>正式採用決定!</vt:lpstr>
      <vt:lpstr>正式採用決定!</vt:lpstr>
      <vt:lpstr>その他</vt:lpstr>
      <vt:lpstr>謝辞</vt:lpstr>
      <vt:lpstr>ご静聴ありがとうございました!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大河内健太郎</cp:lastModifiedBy>
  <cp:revision>1</cp:revision>
  <dcterms:created xsi:type="dcterms:W3CDTF">2025-05-27T02:56:43Z</dcterms:created>
  <dcterms:modified xsi:type="dcterms:W3CDTF">2026-06-14T03:15:34Z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2010-09-25T00:00:00Z</vt:filetime>
  </property>
  <property fmtid="{D5CDD505-2E9C-101B-9397-08002B2CF9AE}" pid="3" name="Creator">
    <vt:lpwstr>Apple Keynote 5.0.3</vt:lpwstr>
  </property>
  <property fmtid="{D5CDD505-2E9C-101B-9397-08002B2CF9AE}" pid="4" name="LastSaved">
    <vt:filetime>2025-05-27T00:00:00Z</vt:filetime>
  </property>
  <property fmtid="{D5CDD505-2E9C-101B-9397-08002B2CF9AE}" pid="5" name="Producer">
    <vt:lpwstr>Mac OS X Server 10.5.6 Quartz PDFContext</vt:lpwstr>
  </property>
</Properties>
</file>